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2"/>
  </p:notesMasterIdLst>
  <p:handoutMasterIdLst>
    <p:handoutMasterId r:id="rId33"/>
  </p:handoutMasterIdLst>
  <p:sldIdLst>
    <p:sldId id="257" r:id="rId2"/>
    <p:sldId id="307" r:id="rId3"/>
    <p:sldId id="308" r:id="rId4"/>
    <p:sldId id="377" r:id="rId5"/>
    <p:sldId id="343" r:id="rId6"/>
    <p:sldId id="369" r:id="rId7"/>
    <p:sldId id="344" r:id="rId8"/>
    <p:sldId id="346" r:id="rId9"/>
    <p:sldId id="345" r:id="rId10"/>
    <p:sldId id="370" r:id="rId11"/>
    <p:sldId id="349" r:id="rId12"/>
    <p:sldId id="371" r:id="rId13"/>
    <p:sldId id="347" r:id="rId14"/>
    <p:sldId id="348" r:id="rId15"/>
    <p:sldId id="372" r:id="rId16"/>
    <p:sldId id="374" r:id="rId17"/>
    <p:sldId id="375" r:id="rId18"/>
    <p:sldId id="356" r:id="rId19"/>
    <p:sldId id="384" r:id="rId20"/>
    <p:sldId id="360" r:id="rId21"/>
    <p:sldId id="361" r:id="rId22"/>
    <p:sldId id="362" r:id="rId23"/>
    <p:sldId id="383" r:id="rId24"/>
    <p:sldId id="381" r:id="rId25"/>
    <p:sldId id="363" r:id="rId26"/>
    <p:sldId id="365" r:id="rId27"/>
    <p:sldId id="366" r:id="rId28"/>
    <p:sldId id="367" r:id="rId29"/>
    <p:sldId id="378" r:id="rId30"/>
    <p:sldId id="376" r:id="rId31"/>
  </p:sldIdLst>
  <p:sldSz cx="9144000" cy="6858000" type="screen4x3"/>
  <p:notesSz cx="7023100" cy="93091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4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3703"/>
    <a:srgbClr val="0A9E06"/>
    <a:srgbClr val="777777"/>
    <a:srgbClr val="C0C0C0"/>
    <a:srgbClr val="000099"/>
    <a:srgbClr val="FF99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106" d="100"/>
          <a:sy n="106" d="100"/>
        </p:scale>
        <p:origin x="248" y="84"/>
      </p:cViewPr>
      <p:guideLst>
        <p:guide orient="horz" pos="2160"/>
        <p:guide pos="3408"/>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8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2AD5C0E-68B7-4CB1-FAAB-EAECBD8C7C07}"/>
              </a:ext>
            </a:extLst>
          </p:cNvPr>
          <p:cNvSpPr>
            <a:spLocks noGrp="1" noChangeArrowheads="1"/>
          </p:cNvSpPr>
          <p:nvPr>
            <p:ph type="hdr" sz="quarter"/>
          </p:nvPr>
        </p:nvSpPr>
        <p:spPr bwMode="auto">
          <a:xfrm>
            <a:off x="0" y="0"/>
            <a:ext cx="3044825" cy="465138"/>
          </a:xfrm>
          <a:prstGeom prst="rect">
            <a:avLst/>
          </a:prstGeom>
          <a:noFill/>
          <a:ln w="9525">
            <a:noFill/>
            <a:miter lim="800000"/>
            <a:headEnd/>
            <a:tailEnd/>
          </a:ln>
          <a:effectLst/>
        </p:spPr>
        <p:txBody>
          <a:bodyPr vert="horz" wrap="square" lIns="93214" tIns="46607" rIns="93214" bIns="46607" numCol="1" anchor="t" anchorCtr="0" compatLnSpc="1">
            <a:prstTxWarp prst="textNoShape">
              <a:avLst/>
            </a:prstTxWarp>
          </a:bodyPr>
          <a:lstStyle>
            <a:lvl1pPr defTabSz="931863" eaLnBrk="1" hangingPunct="1">
              <a:defRPr sz="1200">
                <a:latin typeface="Times New Roman" pitchFamily="18" charset="0"/>
              </a:defRPr>
            </a:lvl1pPr>
          </a:lstStyle>
          <a:p>
            <a:pPr>
              <a:defRPr/>
            </a:pPr>
            <a:endParaRPr lang="en-US"/>
          </a:p>
        </p:txBody>
      </p:sp>
      <p:sp>
        <p:nvSpPr>
          <p:cNvPr id="53251" name="Rectangle 3">
            <a:extLst>
              <a:ext uri="{FF2B5EF4-FFF2-40B4-BE49-F238E27FC236}">
                <a16:creationId xmlns:a16="http://schemas.microsoft.com/office/drawing/2014/main" id="{76D22778-E21C-C1BB-8427-4F7085C6AB73}"/>
              </a:ext>
            </a:extLst>
          </p:cNvPr>
          <p:cNvSpPr>
            <a:spLocks noGrp="1" noChangeArrowheads="1"/>
          </p:cNvSpPr>
          <p:nvPr>
            <p:ph type="dt" sz="quarter" idx="1"/>
          </p:nvPr>
        </p:nvSpPr>
        <p:spPr bwMode="auto">
          <a:xfrm>
            <a:off x="3978275" y="0"/>
            <a:ext cx="3044825" cy="465138"/>
          </a:xfrm>
          <a:prstGeom prst="rect">
            <a:avLst/>
          </a:prstGeom>
          <a:noFill/>
          <a:ln w="9525">
            <a:noFill/>
            <a:miter lim="800000"/>
            <a:headEnd/>
            <a:tailEnd/>
          </a:ln>
          <a:effectLst/>
        </p:spPr>
        <p:txBody>
          <a:bodyPr vert="horz" wrap="square" lIns="93214" tIns="46607" rIns="93214" bIns="46607" numCol="1" anchor="t" anchorCtr="0" compatLnSpc="1">
            <a:prstTxWarp prst="textNoShape">
              <a:avLst/>
            </a:prstTxWarp>
          </a:bodyPr>
          <a:lstStyle>
            <a:lvl1pPr algn="r" defTabSz="931863" eaLnBrk="1" hangingPunct="1">
              <a:defRPr sz="1200">
                <a:latin typeface="Times New Roman" pitchFamily="18" charset="0"/>
              </a:defRPr>
            </a:lvl1pPr>
          </a:lstStyle>
          <a:p>
            <a:pPr>
              <a:defRPr/>
            </a:pPr>
            <a:endParaRPr lang="en-US"/>
          </a:p>
        </p:txBody>
      </p:sp>
      <p:sp>
        <p:nvSpPr>
          <p:cNvPr id="53252" name="Rectangle 4">
            <a:extLst>
              <a:ext uri="{FF2B5EF4-FFF2-40B4-BE49-F238E27FC236}">
                <a16:creationId xmlns:a16="http://schemas.microsoft.com/office/drawing/2014/main" id="{9D275C96-3584-37BE-34FE-91B22E73C1FB}"/>
              </a:ext>
            </a:extLst>
          </p:cNvPr>
          <p:cNvSpPr>
            <a:spLocks noGrp="1" noChangeArrowheads="1"/>
          </p:cNvSpPr>
          <p:nvPr>
            <p:ph type="ftr" sz="quarter" idx="2"/>
          </p:nvPr>
        </p:nvSpPr>
        <p:spPr bwMode="auto">
          <a:xfrm>
            <a:off x="0" y="8843963"/>
            <a:ext cx="3044825" cy="465137"/>
          </a:xfrm>
          <a:prstGeom prst="rect">
            <a:avLst/>
          </a:prstGeom>
          <a:noFill/>
          <a:ln w="9525">
            <a:noFill/>
            <a:miter lim="800000"/>
            <a:headEnd/>
            <a:tailEnd/>
          </a:ln>
          <a:effectLst/>
        </p:spPr>
        <p:txBody>
          <a:bodyPr vert="horz" wrap="square" lIns="93214" tIns="46607" rIns="93214" bIns="46607" numCol="1" anchor="b" anchorCtr="0" compatLnSpc="1">
            <a:prstTxWarp prst="textNoShape">
              <a:avLst/>
            </a:prstTxWarp>
          </a:bodyPr>
          <a:lstStyle>
            <a:lvl1pPr defTabSz="931863" eaLnBrk="1" hangingPunct="1">
              <a:defRPr sz="1200">
                <a:latin typeface="Times New Roman" pitchFamily="18" charset="0"/>
              </a:defRPr>
            </a:lvl1pPr>
          </a:lstStyle>
          <a:p>
            <a:pPr>
              <a:defRPr/>
            </a:pPr>
            <a:endParaRPr lang="en-US"/>
          </a:p>
        </p:txBody>
      </p:sp>
      <p:sp>
        <p:nvSpPr>
          <p:cNvPr id="53253" name="Rectangle 5">
            <a:extLst>
              <a:ext uri="{FF2B5EF4-FFF2-40B4-BE49-F238E27FC236}">
                <a16:creationId xmlns:a16="http://schemas.microsoft.com/office/drawing/2014/main" id="{82FFCB48-05ED-A22A-2E31-EA36EA8D2D56}"/>
              </a:ext>
            </a:extLst>
          </p:cNvPr>
          <p:cNvSpPr>
            <a:spLocks noGrp="1" noChangeArrowheads="1"/>
          </p:cNvSpPr>
          <p:nvPr>
            <p:ph type="sldNum" sz="quarter" idx="3"/>
          </p:nvPr>
        </p:nvSpPr>
        <p:spPr bwMode="auto">
          <a:xfrm>
            <a:off x="3978275" y="8843963"/>
            <a:ext cx="3044825" cy="465137"/>
          </a:xfrm>
          <a:prstGeom prst="rect">
            <a:avLst/>
          </a:prstGeom>
          <a:noFill/>
          <a:ln w="9525">
            <a:noFill/>
            <a:miter lim="800000"/>
            <a:headEnd/>
            <a:tailEnd/>
          </a:ln>
          <a:effectLst/>
        </p:spPr>
        <p:txBody>
          <a:bodyPr vert="horz" wrap="square" lIns="93214" tIns="46607" rIns="93214" bIns="46607" numCol="1" anchor="b" anchorCtr="0" compatLnSpc="1">
            <a:prstTxWarp prst="textNoShape">
              <a:avLst/>
            </a:prstTxWarp>
          </a:bodyPr>
          <a:lstStyle>
            <a:lvl1pPr algn="r" defTabSz="931863" eaLnBrk="1" hangingPunct="1">
              <a:defRPr sz="1200">
                <a:latin typeface="Times New Roman" panose="02020603050405020304" pitchFamily="18" charset="0"/>
              </a:defRPr>
            </a:lvl1pPr>
          </a:lstStyle>
          <a:p>
            <a:pPr>
              <a:defRPr/>
            </a:pPr>
            <a:fld id="{2CD7C110-AD57-4ED3-8BB2-C760249A519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20E2C3D3-8898-2846-4CC9-152B33009030}"/>
              </a:ext>
            </a:extLst>
          </p:cNvPr>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329731" name="Rectangle 3">
            <a:extLst>
              <a:ext uri="{FF2B5EF4-FFF2-40B4-BE49-F238E27FC236}">
                <a16:creationId xmlns:a16="http://schemas.microsoft.com/office/drawing/2014/main" id="{408B224B-9A59-1FFF-C318-F1A411B59D39}"/>
              </a:ext>
            </a:extLst>
          </p:cNvPr>
          <p:cNvSpPr>
            <a:spLocks noGrp="1" noChangeArrowheads="1"/>
          </p:cNvSpPr>
          <p:nvPr>
            <p:ph type="dt" idx="1"/>
          </p:nvPr>
        </p:nvSpPr>
        <p:spPr bwMode="auto">
          <a:xfrm>
            <a:off x="3978275" y="0"/>
            <a:ext cx="3043238"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2052" name="Rectangle 4">
            <a:extLst>
              <a:ext uri="{FF2B5EF4-FFF2-40B4-BE49-F238E27FC236}">
                <a16:creationId xmlns:a16="http://schemas.microsoft.com/office/drawing/2014/main" id="{7156180E-0017-FE21-1971-9534260175A4}"/>
              </a:ext>
            </a:extLst>
          </p:cNvPr>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9733" name="Rectangle 5">
            <a:extLst>
              <a:ext uri="{FF2B5EF4-FFF2-40B4-BE49-F238E27FC236}">
                <a16:creationId xmlns:a16="http://schemas.microsoft.com/office/drawing/2014/main" id="{B6BEB96D-198D-36E8-778B-51286E5C6D1D}"/>
              </a:ext>
            </a:extLst>
          </p:cNvPr>
          <p:cNvSpPr>
            <a:spLocks noGrp="1" noChangeArrowheads="1"/>
          </p:cNvSpPr>
          <p:nvPr>
            <p:ph type="body" sz="quarter" idx="3"/>
          </p:nvPr>
        </p:nvSpPr>
        <p:spPr bwMode="auto">
          <a:xfrm>
            <a:off x="701675" y="4421188"/>
            <a:ext cx="5619750" cy="4189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9734" name="Rectangle 6">
            <a:extLst>
              <a:ext uri="{FF2B5EF4-FFF2-40B4-BE49-F238E27FC236}">
                <a16:creationId xmlns:a16="http://schemas.microsoft.com/office/drawing/2014/main" id="{B0C3E292-72EA-52AC-3651-1C17591F0DE3}"/>
              </a:ext>
            </a:extLst>
          </p:cNvPr>
          <p:cNvSpPr>
            <a:spLocks noGrp="1" noChangeArrowheads="1"/>
          </p:cNvSpPr>
          <p:nvPr>
            <p:ph type="ftr" sz="quarter" idx="4"/>
          </p:nvPr>
        </p:nvSpPr>
        <p:spPr bwMode="auto">
          <a:xfrm>
            <a:off x="0" y="8842375"/>
            <a:ext cx="3043238"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329735" name="Rectangle 7">
            <a:extLst>
              <a:ext uri="{FF2B5EF4-FFF2-40B4-BE49-F238E27FC236}">
                <a16:creationId xmlns:a16="http://schemas.microsoft.com/office/drawing/2014/main" id="{EDA166D1-C121-7E92-CCF7-5318EA68E43D}"/>
              </a:ext>
            </a:extLst>
          </p:cNvPr>
          <p:cNvSpPr>
            <a:spLocks noGrp="1" noChangeArrowheads="1"/>
          </p:cNvSpPr>
          <p:nvPr>
            <p:ph type="sldNum" sz="quarter" idx="5"/>
          </p:nvPr>
        </p:nvSpPr>
        <p:spPr bwMode="auto">
          <a:xfrm>
            <a:off x="3978275" y="8842375"/>
            <a:ext cx="3043238"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5E321769-7A64-4321-8F47-A5AD9604046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7CAD55A4-CE58-475C-1361-F0B97A28E6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41D001C4-2E87-496F-AA50-76EECE2FA8A0}"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34819" name="Rectangle 2">
            <a:extLst>
              <a:ext uri="{FF2B5EF4-FFF2-40B4-BE49-F238E27FC236}">
                <a16:creationId xmlns:a16="http://schemas.microsoft.com/office/drawing/2014/main" id="{D7AB47AD-2249-E4A3-FBA3-6F2F52D1EED6}"/>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57DE69AD-9D84-73C8-7836-EEFBE6F3AD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23586" name="Rectangle 2"/>
          <p:cNvSpPr>
            <a:spLocks noGrp="1" noChangeArrowheads="1"/>
          </p:cNvSpPr>
          <p:nvPr>
            <p:ph type="ctrTitle" sz="quarter"/>
          </p:nvPr>
        </p:nvSpPr>
        <p:spPr>
          <a:xfrm>
            <a:off x="685800" y="1676400"/>
            <a:ext cx="7772400" cy="1828800"/>
          </a:xfrm>
        </p:spPr>
        <p:txBody>
          <a:bodyPr/>
          <a:lstStyle>
            <a:lvl1pPr>
              <a:defRPr/>
            </a:lvl1pPr>
          </a:lstStyle>
          <a:p>
            <a:r>
              <a:rPr lang="en-US"/>
              <a:t>Click to edit Master title style</a:t>
            </a:r>
          </a:p>
        </p:txBody>
      </p:sp>
      <p:sp>
        <p:nvSpPr>
          <p:cNvPr id="323587" name="Rectangle 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2" name="Rectangle 4">
            <a:extLst>
              <a:ext uri="{FF2B5EF4-FFF2-40B4-BE49-F238E27FC236}">
                <a16:creationId xmlns:a16="http://schemas.microsoft.com/office/drawing/2014/main" id="{A1B47167-88B0-0846-3600-19A688EF9D26}"/>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3" name="Rectangle 5">
            <a:extLst>
              <a:ext uri="{FF2B5EF4-FFF2-40B4-BE49-F238E27FC236}">
                <a16:creationId xmlns:a16="http://schemas.microsoft.com/office/drawing/2014/main" id="{B1761275-85FC-0D2B-3B75-68EA4A420EB1}"/>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4" name="Rectangle 6">
            <a:extLst>
              <a:ext uri="{FF2B5EF4-FFF2-40B4-BE49-F238E27FC236}">
                <a16:creationId xmlns:a16="http://schemas.microsoft.com/office/drawing/2014/main" id="{0E5E6AEE-A3EE-95A7-C9A8-A076316E6448}"/>
              </a:ext>
            </a:extLst>
          </p:cNvPr>
          <p:cNvSpPr>
            <a:spLocks noGrp="1" noChangeArrowheads="1"/>
          </p:cNvSpPr>
          <p:nvPr>
            <p:ph type="sldNum" sz="quarter" idx="12"/>
          </p:nvPr>
        </p:nvSpPr>
        <p:spPr>
          <a:ln/>
        </p:spPr>
        <p:txBody>
          <a:bodyPr/>
          <a:lstStyle>
            <a:lvl1pPr>
              <a:defRPr/>
            </a:lvl1pPr>
          </a:lstStyle>
          <a:p>
            <a:pPr>
              <a:defRPr/>
            </a:pPr>
            <a:fld id="{01B1D841-DB12-474D-B4F4-5F81FE0F32AE}" type="slidenum">
              <a:rPr lang="en-US" altLang="en-US"/>
              <a:pPr>
                <a:defRPr/>
              </a:pPr>
              <a:t>‹#›</a:t>
            </a:fld>
            <a:endParaRPr lang="en-US" altLang="en-US"/>
          </a:p>
        </p:txBody>
      </p:sp>
    </p:spTree>
    <p:extLst>
      <p:ext uri="{BB962C8B-B14F-4D97-AF65-F5344CB8AC3E}">
        <p14:creationId xmlns:p14="http://schemas.microsoft.com/office/powerpoint/2010/main" val="3679424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586506F-C5DA-D32A-6148-F579F6BA91A1}"/>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5" name="Rectangle 5">
            <a:extLst>
              <a:ext uri="{FF2B5EF4-FFF2-40B4-BE49-F238E27FC236}">
                <a16:creationId xmlns:a16="http://schemas.microsoft.com/office/drawing/2014/main" id="{72B8B03D-40E4-AB51-D028-EC16F464F264}"/>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6" name="Rectangle 6">
            <a:extLst>
              <a:ext uri="{FF2B5EF4-FFF2-40B4-BE49-F238E27FC236}">
                <a16:creationId xmlns:a16="http://schemas.microsoft.com/office/drawing/2014/main" id="{3B92C7A7-E7D9-8C54-3B19-370202DA80BE}"/>
              </a:ext>
            </a:extLst>
          </p:cNvPr>
          <p:cNvSpPr>
            <a:spLocks noGrp="1" noChangeArrowheads="1"/>
          </p:cNvSpPr>
          <p:nvPr>
            <p:ph type="sldNum" sz="quarter" idx="12"/>
          </p:nvPr>
        </p:nvSpPr>
        <p:spPr>
          <a:ln/>
        </p:spPr>
        <p:txBody>
          <a:bodyPr/>
          <a:lstStyle>
            <a:lvl1pPr>
              <a:defRPr/>
            </a:lvl1pPr>
          </a:lstStyle>
          <a:p>
            <a:pPr>
              <a:defRPr/>
            </a:pPr>
            <a:fld id="{E339DDD4-0938-4BEB-ABC1-3C1E42238B47}" type="slidenum">
              <a:rPr lang="en-US" altLang="en-US"/>
              <a:pPr>
                <a:defRPr/>
              </a:pPr>
              <a:t>‹#›</a:t>
            </a:fld>
            <a:endParaRPr lang="en-US" altLang="en-US"/>
          </a:p>
        </p:txBody>
      </p:sp>
    </p:spTree>
    <p:extLst>
      <p:ext uri="{BB962C8B-B14F-4D97-AF65-F5344CB8AC3E}">
        <p14:creationId xmlns:p14="http://schemas.microsoft.com/office/powerpoint/2010/main" val="4258492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A992605-8A19-F344-AFD8-8C2EF2C7905F}"/>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5" name="Rectangle 5">
            <a:extLst>
              <a:ext uri="{FF2B5EF4-FFF2-40B4-BE49-F238E27FC236}">
                <a16:creationId xmlns:a16="http://schemas.microsoft.com/office/drawing/2014/main" id="{F04A06EB-3C33-76BE-5DE5-37769F57D511}"/>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6" name="Rectangle 6">
            <a:extLst>
              <a:ext uri="{FF2B5EF4-FFF2-40B4-BE49-F238E27FC236}">
                <a16:creationId xmlns:a16="http://schemas.microsoft.com/office/drawing/2014/main" id="{5BA7EAE6-342D-0817-B0B9-0B84B70EAC35}"/>
              </a:ext>
            </a:extLst>
          </p:cNvPr>
          <p:cNvSpPr>
            <a:spLocks noGrp="1" noChangeArrowheads="1"/>
          </p:cNvSpPr>
          <p:nvPr>
            <p:ph type="sldNum" sz="quarter" idx="12"/>
          </p:nvPr>
        </p:nvSpPr>
        <p:spPr>
          <a:ln/>
        </p:spPr>
        <p:txBody>
          <a:bodyPr/>
          <a:lstStyle>
            <a:lvl1pPr>
              <a:defRPr/>
            </a:lvl1pPr>
          </a:lstStyle>
          <a:p>
            <a:pPr>
              <a:defRPr/>
            </a:pPr>
            <a:fld id="{7E842134-59EF-4863-A7D0-496ADD36584C}" type="slidenum">
              <a:rPr lang="en-US" altLang="en-US"/>
              <a:pPr>
                <a:defRPr/>
              </a:pPr>
              <a:t>‹#›</a:t>
            </a:fld>
            <a:endParaRPr lang="en-US" altLang="en-US"/>
          </a:p>
        </p:txBody>
      </p:sp>
    </p:spTree>
    <p:extLst>
      <p:ext uri="{BB962C8B-B14F-4D97-AF65-F5344CB8AC3E}">
        <p14:creationId xmlns:p14="http://schemas.microsoft.com/office/powerpoint/2010/main" val="954784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04C2156-CD63-E8EB-B5A1-EB162790ED41}"/>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6" name="Rectangle 5">
            <a:extLst>
              <a:ext uri="{FF2B5EF4-FFF2-40B4-BE49-F238E27FC236}">
                <a16:creationId xmlns:a16="http://schemas.microsoft.com/office/drawing/2014/main" id="{4F07E128-6797-A198-1D7F-0CFAC24CF500}"/>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7" name="Rectangle 6">
            <a:extLst>
              <a:ext uri="{FF2B5EF4-FFF2-40B4-BE49-F238E27FC236}">
                <a16:creationId xmlns:a16="http://schemas.microsoft.com/office/drawing/2014/main" id="{F4BE4E7E-D8EC-0F08-2AB2-B62177920872}"/>
              </a:ext>
            </a:extLst>
          </p:cNvPr>
          <p:cNvSpPr>
            <a:spLocks noGrp="1" noChangeArrowheads="1"/>
          </p:cNvSpPr>
          <p:nvPr>
            <p:ph type="sldNum" sz="quarter" idx="12"/>
          </p:nvPr>
        </p:nvSpPr>
        <p:spPr>
          <a:ln/>
        </p:spPr>
        <p:txBody>
          <a:bodyPr/>
          <a:lstStyle>
            <a:lvl1pPr>
              <a:defRPr/>
            </a:lvl1pPr>
          </a:lstStyle>
          <a:p>
            <a:pPr>
              <a:defRPr/>
            </a:pPr>
            <a:fld id="{45B2B038-1115-44A4-B074-E68E9D83DCAA}" type="slidenum">
              <a:rPr lang="en-US" altLang="en-US"/>
              <a:pPr>
                <a:defRPr/>
              </a:pPr>
              <a:t>‹#›</a:t>
            </a:fld>
            <a:endParaRPr lang="en-US" altLang="en-US"/>
          </a:p>
        </p:txBody>
      </p:sp>
    </p:spTree>
    <p:extLst>
      <p:ext uri="{BB962C8B-B14F-4D97-AF65-F5344CB8AC3E}">
        <p14:creationId xmlns:p14="http://schemas.microsoft.com/office/powerpoint/2010/main" val="1832221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EC2927C-A590-1B5A-6569-48D39B5EA260}"/>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8" name="Rectangle 5">
            <a:extLst>
              <a:ext uri="{FF2B5EF4-FFF2-40B4-BE49-F238E27FC236}">
                <a16:creationId xmlns:a16="http://schemas.microsoft.com/office/drawing/2014/main" id="{89B63B71-E31B-59CD-5AC9-A61ED7CF6E77}"/>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9" name="Rectangle 6">
            <a:extLst>
              <a:ext uri="{FF2B5EF4-FFF2-40B4-BE49-F238E27FC236}">
                <a16:creationId xmlns:a16="http://schemas.microsoft.com/office/drawing/2014/main" id="{D2D8031F-0E4C-B8DC-82B8-C08A63CD6B09}"/>
              </a:ext>
            </a:extLst>
          </p:cNvPr>
          <p:cNvSpPr>
            <a:spLocks noGrp="1" noChangeArrowheads="1"/>
          </p:cNvSpPr>
          <p:nvPr>
            <p:ph type="sldNum" sz="quarter" idx="12"/>
          </p:nvPr>
        </p:nvSpPr>
        <p:spPr>
          <a:ln/>
        </p:spPr>
        <p:txBody>
          <a:bodyPr/>
          <a:lstStyle>
            <a:lvl1pPr>
              <a:defRPr/>
            </a:lvl1pPr>
          </a:lstStyle>
          <a:p>
            <a:pPr>
              <a:defRPr/>
            </a:pPr>
            <a:fld id="{641BB1A4-2065-4C6B-8EFC-178494ED5511}" type="slidenum">
              <a:rPr lang="en-US" altLang="en-US"/>
              <a:pPr>
                <a:defRPr/>
              </a:pPr>
              <a:t>‹#›</a:t>
            </a:fld>
            <a:endParaRPr lang="en-US" altLang="en-US"/>
          </a:p>
        </p:txBody>
      </p:sp>
    </p:spTree>
    <p:extLst>
      <p:ext uri="{BB962C8B-B14F-4D97-AF65-F5344CB8AC3E}">
        <p14:creationId xmlns:p14="http://schemas.microsoft.com/office/powerpoint/2010/main" val="245969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212135D3-181E-1C8D-7794-E34C0C051F33}"/>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4" name="Rectangle 5">
            <a:extLst>
              <a:ext uri="{FF2B5EF4-FFF2-40B4-BE49-F238E27FC236}">
                <a16:creationId xmlns:a16="http://schemas.microsoft.com/office/drawing/2014/main" id="{26CCDC55-30BB-C531-4CFA-C769AFECFD5A}"/>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5" name="Rectangle 6">
            <a:extLst>
              <a:ext uri="{FF2B5EF4-FFF2-40B4-BE49-F238E27FC236}">
                <a16:creationId xmlns:a16="http://schemas.microsoft.com/office/drawing/2014/main" id="{2EAC944B-EE70-1146-5037-2027FE58A069}"/>
              </a:ext>
            </a:extLst>
          </p:cNvPr>
          <p:cNvSpPr>
            <a:spLocks noGrp="1" noChangeArrowheads="1"/>
          </p:cNvSpPr>
          <p:nvPr>
            <p:ph type="sldNum" sz="quarter" idx="12"/>
          </p:nvPr>
        </p:nvSpPr>
        <p:spPr>
          <a:ln/>
        </p:spPr>
        <p:txBody>
          <a:bodyPr/>
          <a:lstStyle>
            <a:lvl1pPr>
              <a:defRPr/>
            </a:lvl1pPr>
          </a:lstStyle>
          <a:p>
            <a:pPr>
              <a:defRPr/>
            </a:pPr>
            <a:fld id="{7FD9600A-8A71-4101-A5CB-83075E21C4EA}" type="slidenum">
              <a:rPr lang="en-US" altLang="en-US"/>
              <a:pPr>
                <a:defRPr/>
              </a:pPr>
              <a:t>‹#›</a:t>
            </a:fld>
            <a:endParaRPr lang="en-US" altLang="en-US"/>
          </a:p>
        </p:txBody>
      </p:sp>
    </p:spTree>
    <p:extLst>
      <p:ext uri="{BB962C8B-B14F-4D97-AF65-F5344CB8AC3E}">
        <p14:creationId xmlns:p14="http://schemas.microsoft.com/office/powerpoint/2010/main" val="3240054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8B1A245-A3CB-0C8A-F5B2-DB9AC7985642}"/>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3" name="Rectangle 5">
            <a:extLst>
              <a:ext uri="{FF2B5EF4-FFF2-40B4-BE49-F238E27FC236}">
                <a16:creationId xmlns:a16="http://schemas.microsoft.com/office/drawing/2014/main" id="{F3135357-A407-EA9F-6D44-C2AF9A0526FA}"/>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4" name="Rectangle 6">
            <a:extLst>
              <a:ext uri="{FF2B5EF4-FFF2-40B4-BE49-F238E27FC236}">
                <a16:creationId xmlns:a16="http://schemas.microsoft.com/office/drawing/2014/main" id="{62ED0E74-5655-D9BD-0738-7C657233F7CC}"/>
              </a:ext>
            </a:extLst>
          </p:cNvPr>
          <p:cNvSpPr>
            <a:spLocks noGrp="1" noChangeArrowheads="1"/>
          </p:cNvSpPr>
          <p:nvPr>
            <p:ph type="sldNum" sz="quarter" idx="12"/>
          </p:nvPr>
        </p:nvSpPr>
        <p:spPr>
          <a:ln/>
        </p:spPr>
        <p:txBody>
          <a:bodyPr/>
          <a:lstStyle>
            <a:lvl1pPr>
              <a:defRPr/>
            </a:lvl1pPr>
          </a:lstStyle>
          <a:p>
            <a:pPr>
              <a:defRPr/>
            </a:pPr>
            <a:fld id="{6134BCD8-7441-410F-8710-9165399C44A9}" type="slidenum">
              <a:rPr lang="en-US" altLang="en-US"/>
              <a:pPr>
                <a:defRPr/>
              </a:pPr>
              <a:t>‹#›</a:t>
            </a:fld>
            <a:endParaRPr lang="en-US" altLang="en-US"/>
          </a:p>
        </p:txBody>
      </p:sp>
    </p:spTree>
    <p:extLst>
      <p:ext uri="{BB962C8B-B14F-4D97-AF65-F5344CB8AC3E}">
        <p14:creationId xmlns:p14="http://schemas.microsoft.com/office/powerpoint/2010/main" val="2994049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59D6AFB-3185-6404-76EA-950894746D76}"/>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6" name="Rectangle 5">
            <a:extLst>
              <a:ext uri="{FF2B5EF4-FFF2-40B4-BE49-F238E27FC236}">
                <a16:creationId xmlns:a16="http://schemas.microsoft.com/office/drawing/2014/main" id="{668E646F-CDF2-FD81-2B08-ADFACA8169C9}"/>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7" name="Rectangle 6">
            <a:extLst>
              <a:ext uri="{FF2B5EF4-FFF2-40B4-BE49-F238E27FC236}">
                <a16:creationId xmlns:a16="http://schemas.microsoft.com/office/drawing/2014/main" id="{D3196423-89C7-A7DD-0A51-3695CDD5D88D}"/>
              </a:ext>
            </a:extLst>
          </p:cNvPr>
          <p:cNvSpPr>
            <a:spLocks noGrp="1" noChangeArrowheads="1"/>
          </p:cNvSpPr>
          <p:nvPr>
            <p:ph type="sldNum" sz="quarter" idx="12"/>
          </p:nvPr>
        </p:nvSpPr>
        <p:spPr>
          <a:ln/>
        </p:spPr>
        <p:txBody>
          <a:bodyPr/>
          <a:lstStyle>
            <a:lvl1pPr>
              <a:defRPr/>
            </a:lvl1pPr>
          </a:lstStyle>
          <a:p>
            <a:pPr>
              <a:defRPr/>
            </a:pPr>
            <a:fld id="{CE83DA9C-AE78-4142-8DD9-FA88037F5E02}" type="slidenum">
              <a:rPr lang="en-US" altLang="en-US"/>
              <a:pPr>
                <a:defRPr/>
              </a:pPr>
              <a:t>‹#›</a:t>
            </a:fld>
            <a:endParaRPr lang="en-US" altLang="en-US"/>
          </a:p>
        </p:txBody>
      </p:sp>
    </p:spTree>
    <p:extLst>
      <p:ext uri="{BB962C8B-B14F-4D97-AF65-F5344CB8AC3E}">
        <p14:creationId xmlns:p14="http://schemas.microsoft.com/office/powerpoint/2010/main" val="3272187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3551244-F670-7769-D02B-EED84193877F}"/>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6" name="Rectangle 5">
            <a:extLst>
              <a:ext uri="{FF2B5EF4-FFF2-40B4-BE49-F238E27FC236}">
                <a16:creationId xmlns:a16="http://schemas.microsoft.com/office/drawing/2014/main" id="{FA6D7CEC-B992-9B11-B378-032679C18107}"/>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7" name="Rectangle 6">
            <a:extLst>
              <a:ext uri="{FF2B5EF4-FFF2-40B4-BE49-F238E27FC236}">
                <a16:creationId xmlns:a16="http://schemas.microsoft.com/office/drawing/2014/main" id="{F2299AC3-E753-5EA5-71BC-7280E91BDDD7}"/>
              </a:ext>
            </a:extLst>
          </p:cNvPr>
          <p:cNvSpPr>
            <a:spLocks noGrp="1" noChangeArrowheads="1"/>
          </p:cNvSpPr>
          <p:nvPr>
            <p:ph type="sldNum" sz="quarter" idx="12"/>
          </p:nvPr>
        </p:nvSpPr>
        <p:spPr>
          <a:ln/>
        </p:spPr>
        <p:txBody>
          <a:bodyPr/>
          <a:lstStyle>
            <a:lvl1pPr>
              <a:defRPr/>
            </a:lvl1pPr>
          </a:lstStyle>
          <a:p>
            <a:pPr>
              <a:defRPr/>
            </a:pPr>
            <a:fld id="{3367ED08-353B-4E37-ABCC-CD6DD4F16E83}" type="slidenum">
              <a:rPr lang="en-US" altLang="en-US"/>
              <a:pPr>
                <a:defRPr/>
              </a:pPr>
              <a:t>‹#›</a:t>
            </a:fld>
            <a:endParaRPr lang="en-US" altLang="en-US"/>
          </a:p>
        </p:txBody>
      </p:sp>
    </p:spTree>
    <p:extLst>
      <p:ext uri="{BB962C8B-B14F-4D97-AF65-F5344CB8AC3E}">
        <p14:creationId xmlns:p14="http://schemas.microsoft.com/office/powerpoint/2010/main" val="646924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4AC0B75-95C9-8934-1FAA-A00887394B7B}"/>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5" name="Rectangle 5">
            <a:extLst>
              <a:ext uri="{FF2B5EF4-FFF2-40B4-BE49-F238E27FC236}">
                <a16:creationId xmlns:a16="http://schemas.microsoft.com/office/drawing/2014/main" id="{A09C3754-3AF8-437E-E6BA-2F9F7B0AB790}"/>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6" name="Rectangle 6">
            <a:extLst>
              <a:ext uri="{FF2B5EF4-FFF2-40B4-BE49-F238E27FC236}">
                <a16:creationId xmlns:a16="http://schemas.microsoft.com/office/drawing/2014/main" id="{64017A71-2387-9EDC-66FD-37F660312EB8}"/>
              </a:ext>
            </a:extLst>
          </p:cNvPr>
          <p:cNvSpPr>
            <a:spLocks noGrp="1" noChangeArrowheads="1"/>
          </p:cNvSpPr>
          <p:nvPr>
            <p:ph type="sldNum" sz="quarter" idx="12"/>
          </p:nvPr>
        </p:nvSpPr>
        <p:spPr>
          <a:ln/>
        </p:spPr>
        <p:txBody>
          <a:bodyPr/>
          <a:lstStyle>
            <a:lvl1pPr>
              <a:defRPr/>
            </a:lvl1pPr>
          </a:lstStyle>
          <a:p>
            <a:pPr>
              <a:defRPr/>
            </a:pPr>
            <a:fld id="{7D8B754A-0EF9-4F5D-BC32-AA66348504B9}" type="slidenum">
              <a:rPr lang="en-US" altLang="en-US"/>
              <a:pPr>
                <a:defRPr/>
              </a:pPr>
              <a:t>‹#›</a:t>
            </a:fld>
            <a:endParaRPr lang="en-US" altLang="en-US"/>
          </a:p>
        </p:txBody>
      </p:sp>
    </p:spTree>
    <p:extLst>
      <p:ext uri="{BB962C8B-B14F-4D97-AF65-F5344CB8AC3E}">
        <p14:creationId xmlns:p14="http://schemas.microsoft.com/office/powerpoint/2010/main" val="4188996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901EFA3-6C0B-69A4-BBE8-DD3EF5DA9277}"/>
              </a:ext>
            </a:extLst>
          </p:cNvPr>
          <p:cNvSpPr>
            <a:spLocks noGrp="1" noChangeArrowheads="1"/>
          </p:cNvSpPr>
          <p:nvPr>
            <p:ph type="dt" sz="half" idx="10"/>
          </p:nvPr>
        </p:nvSpPr>
        <p:spPr>
          <a:ln/>
        </p:spPr>
        <p:txBody>
          <a:bodyPr/>
          <a:lstStyle>
            <a:lvl1pPr>
              <a:defRPr/>
            </a:lvl1pPr>
          </a:lstStyle>
          <a:p>
            <a:pPr>
              <a:defRPr/>
            </a:pPr>
            <a:r>
              <a:rPr lang="en-US"/>
              <a:t>CS 362</a:t>
            </a:r>
          </a:p>
        </p:txBody>
      </p:sp>
      <p:sp>
        <p:nvSpPr>
          <p:cNvPr id="5" name="Rectangle 5">
            <a:extLst>
              <a:ext uri="{FF2B5EF4-FFF2-40B4-BE49-F238E27FC236}">
                <a16:creationId xmlns:a16="http://schemas.microsoft.com/office/drawing/2014/main" id="{4E0E3FF0-3223-2FC4-1A4E-1692D4A48B36}"/>
              </a:ext>
            </a:extLst>
          </p:cNvPr>
          <p:cNvSpPr>
            <a:spLocks noGrp="1" noChangeArrowheads="1"/>
          </p:cNvSpPr>
          <p:nvPr>
            <p:ph type="ftr" sz="quarter" idx="11"/>
          </p:nvPr>
        </p:nvSpPr>
        <p:spPr>
          <a:ln/>
        </p:spPr>
        <p:txBody>
          <a:bodyPr/>
          <a:lstStyle>
            <a:lvl1pPr>
              <a:defRPr/>
            </a:lvl1pPr>
          </a:lstStyle>
          <a:p>
            <a:pPr>
              <a:defRPr/>
            </a:pPr>
            <a:r>
              <a:rPr lang="en-US"/>
              <a:t>Principles of Programming Languages II</a:t>
            </a:r>
          </a:p>
        </p:txBody>
      </p:sp>
      <p:sp>
        <p:nvSpPr>
          <p:cNvPr id="6" name="Rectangle 6">
            <a:extLst>
              <a:ext uri="{FF2B5EF4-FFF2-40B4-BE49-F238E27FC236}">
                <a16:creationId xmlns:a16="http://schemas.microsoft.com/office/drawing/2014/main" id="{F92CBE27-9A01-203D-9A79-A20FDB0321FC}"/>
              </a:ext>
            </a:extLst>
          </p:cNvPr>
          <p:cNvSpPr>
            <a:spLocks noGrp="1" noChangeArrowheads="1"/>
          </p:cNvSpPr>
          <p:nvPr>
            <p:ph type="sldNum" sz="quarter" idx="12"/>
          </p:nvPr>
        </p:nvSpPr>
        <p:spPr>
          <a:ln/>
        </p:spPr>
        <p:txBody>
          <a:bodyPr/>
          <a:lstStyle>
            <a:lvl1pPr>
              <a:defRPr/>
            </a:lvl1pPr>
          </a:lstStyle>
          <a:p>
            <a:pPr>
              <a:defRPr/>
            </a:pPr>
            <a:fld id="{19C8B0A4-8ED9-4FEA-BA1C-E7C01F99886E}" type="slidenum">
              <a:rPr lang="en-US" altLang="en-US"/>
              <a:pPr>
                <a:defRPr/>
              </a:pPr>
              <a:t>‹#›</a:t>
            </a:fld>
            <a:endParaRPr lang="en-US" altLang="en-US"/>
          </a:p>
        </p:txBody>
      </p:sp>
    </p:spTree>
    <p:extLst>
      <p:ext uri="{BB962C8B-B14F-4D97-AF65-F5344CB8AC3E}">
        <p14:creationId xmlns:p14="http://schemas.microsoft.com/office/powerpoint/2010/main" val="3956245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103E16F3-BEC2-F209-12B4-1BB885E69286}"/>
              </a:ext>
            </a:extLst>
          </p:cNvPr>
          <p:cNvSpPr>
            <a:spLocks noGrp="1" noChangeArrowheads="1"/>
          </p:cNvSpPr>
          <p:nvPr>
            <p:ph type="title"/>
          </p:nvPr>
        </p:nvSpPr>
        <p:spPr bwMode="auto">
          <a:xfrm>
            <a:off x="457200" y="381000"/>
            <a:ext cx="8229600" cy="1371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22563" name="Rectangle 3">
            <a:extLst>
              <a:ext uri="{FF2B5EF4-FFF2-40B4-BE49-F238E27FC236}">
                <a16:creationId xmlns:a16="http://schemas.microsoft.com/office/drawing/2014/main" id="{8CB44D69-2010-46FE-0B99-E9003CBE67EB}"/>
              </a:ext>
            </a:extLst>
          </p:cNvPr>
          <p:cNvSpPr>
            <a:spLocks noGrp="1" noChangeArrowheads="1"/>
          </p:cNvSpPr>
          <p:nvPr>
            <p:ph type="body" idx="1"/>
          </p:nvPr>
        </p:nvSpPr>
        <p:spPr bwMode="auto">
          <a:xfrm>
            <a:off x="457200" y="19812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2564" name="Rectangle 4">
            <a:extLst>
              <a:ext uri="{FF2B5EF4-FFF2-40B4-BE49-F238E27FC236}">
                <a16:creationId xmlns:a16="http://schemas.microsoft.com/office/drawing/2014/main" id="{9057760B-890F-BBB0-E7B9-6C0D9F05F3AC}"/>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defRPr>
            </a:lvl1pPr>
          </a:lstStyle>
          <a:p>
            <a:pPr>
              <a:defRPr/>
            </a:pPr>
            <a:r>
              <a:rPr lang="en-US"/>
              <a:t>CS 362</a:t>
            </a:r>
          </a:p>
        </p:txBody>
      </p:sp>
      <p:sp>
        <p:nvSpPr>
          <p:cNvPr id="322565" name="Rectangle 5">
            <a:extLst>
              <a:ext uri="{FF2B5EF4-FFF2-40B4-BE49-F238E27FC236}">
                <a16:creationId xmlns:a16="http://schemas.microsoft.com/office/drawing/2014/main" id="{CCC2C4A9-FA00-9131-A2D4-CBC354C933D4}"/>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r>
              <a:rPr lang="en-US"/>
              <a:t>Principles of Programming Languages II</a:t>
            </a:r>
          </a:p>
        </p:txBody>
      </p:sp>
      <p:sp>
        <p:nvSpPr>
          <p:cNvPr id="322566" name="Rectangle 6">
            <a:extLst>
              <a:ext uri="{FF2B5EF4-FFF2-40B4-BE49-F238E27FC236}">
                <a16:creationId xmlns:a16="http://schemas.microsoft.com/office/drawing/2014/main" id="{6ED8CB01-1D3C-763A-EBAF-CC957D2A3604}"/>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panose="020B0604020202020204" pitchFamily="34" charset="0"/>
              </a:defRPr>
            </a:lvl1pPr>
          </a:lstStyle>
          <a:p>
            <a:pPr>
              <a:defRPr/>
            </a:pPr>
            <a:fld id="{B8D9D7A2-2548-4C20-B766-5CCF94B5443E}"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pitchFamily="34"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249E64B-8B2A-C129-71EA-F428433D96A6}"/>
              </a:ext>
            </a:extLst>
          </p:cNvPr>
          <p:cNvSpPr>
            <a:spLocks noGrp="1" noChangeArrowheads="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4A5C0A27-3254-45CF-8BA5-1CCBF72C0148}" type="slidenum">
              <a:rPr lang="en-US" altLang="en-US" sz="1400" smtClean="0">
                <a:latin typeface="Arial" panose="020B0604020202020204" pitchFamily="34" charset="0"/>
              </a:rPr>
              <a:pPr>
                <a:spcBef>
                  <a:spcPct val="0"/>
                </a:spcBef>
                <a:buClrTx/>
                <a:buSzTx/>
                <a:buFontTx/>
                <a:buNone/>
                <a:defRPr/>
              </a:pPr>
              <a:t>1</a:t>
            </a:fld>
            <a:endParaRPr lang="en-US" altLang="en-US" sz="1400">
              <a:latin typeface="Arial" panose="020B0604020202020204" pitchFamily="34" charset="0"/>
            </a:endParaRPr>
          </a:p>
        </p:txBody>
      </p:sp>
      <p:sp>
        <p:nvSpPr>
          <p:cNvPr id="2" name="Date Placeholder 1">
            <a:extLst>
              <a:ext uri="{FF2B5EF4-FFF2-40B4-BE49-F238E27FC236}">
                <a16:creationId xmlns:a16="http://schemas.microsoft.com/office/drawing/2014/main" id="{CDC78DDE-DD7F-F644-E311-506A3DCA6DE4}"/>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50504D75-CCF7-1FB6-BEB5-9415BDF99D0C}"/>
              </a:ext>
            </a:extLst>
          </p:cNvPr>
          <p:cNvSpPr>
            <a:spLocks noGrp="1"/>
          </p:cNvSpPr>
          <p:nvPr>
            <p:ph type="ftr" sz="quarter" idx="11"/>
          </p:nvPr>
        </p:nvSpPr>
        <p:spPr/>
        <p:txBody>
          <a:bodyPr/>
          <a:lstStyle/>
          <a:p>
            <a:pPr>
              <a:defRPr/>
            </a:pPr>
            <a:r>
              <a:rPr lang="en-US"/>
              <a:t>Principles of Programming Languages II</a:t>
            </a:r>
          </a:p>
        </p:txBody>
      </p:sp>
      <p:pic>
        <p:nvPicPr>
          <p:cNvPr id="8" name="Picture 7">
            <a:extLst>
              <a:ext uri="{FF2B5EF4-FFF2-40B4-BE49-F238E27FC236}">
                <a16:creationId xmlns:a16="http://schemas.microsoft.com/office/drawing/2014/main" id="{1FD12D8B-649F-0EFE-E9CD-8D672D6FEC37}"/>
              </a:ext>
            </a:extLst>
          </p:cNvPr>
          <p:cNvPicPr>
            <a:picLocks noChangeAspect="1"/>
          </p:cNvPicPr>
          <p:nvPr/>
        </p:nvPicPr>
        <p:blipFill>
          <a:blip r:embed="rId2"/>
          <a:stretch>
            <a:fillRect/>
          </a:stretch>
        </p:blipFill>
        <p:spPr>
          <a:xfrm>
            <a:off x="685800" y="533400"/>
            <a:ext cx="7886700" cy="525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BFB95A0-850D-91AC-9CD2-F071071A1339}"/>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E8F7457A-7EF8-4BF4-A770-EDC3EF03C8EA}" type="slidenum">
              <a:rPr lang="en-US" altLang="en-US" sz="1400" smtClean="0">
                <a:latin typeface="Arial" panose="020B0604020202020204" pitchFamily="34" charset="0"/>
              </a:rPr>
              <a:pPr>
                <a:spcBef>
                  <a:spcPct val="0"/>
                </a:spcBef>
                <a:buClrTx/>
                <a:buSzTx/>
                <a:buFontTx/>
                <a:buNone/>
                <a:defRPr/>
              </a:pPr>
              <a:t>2</a:t>
            </a:fld>
            <a:endParaRPr lang="en-US" altLang="en-US" sz="1400">
              <a:latin typeface="Arial" panose="020B0604020202020204" pitchFamily="34" charset="0"/>
            </a:endParaRPr>
          </a:p>
        </p:txBody>
      </p:sp>
      <p:sp>
        <p:nvSpPr>
          <p:cNvPr id="184322" name="Rectangle 2">
            <a:extLst>
              <a:ext uri="{FF2B5EF4-FFF2-40B4-BE49-F238E27FC236}">
                <a16:creationId xmlns:a16="http://schemas.microsoft.com/office/drawing/2014/main" id="{8A322A39-DC60-269D-D66F-731816F683B5}"/>
              </a:ext>
            </a:extLst>
          </p:cNvPr>
          <p:cNvSpPr>
            <a:spLocks noGrp="1" noChangeArrowheads="1"/>
          </p:cNvSpPr>
          <p:nvPr>
            <p:ph type="title"/>
          </p:nvPr>
        </p:nvSpPr>
        <p:spPr>
          <a:xfrm>
            <a:off x="457200" y="152400"/>
            <a:ext cx="8229600" cy="1066800"/>
          </a:xfrm>
        </p:spPr>
        <p:txBody>
          <a:bodyPr/>
          <a:lstStyle/>
          <a:p>
            <a:pPr eaLnBrk="1" hangingPunct="1">
              <a:defRPr/>
            </a:pPr>
            <a:r>
              <a:rPr lang="en-US" sz="3600" dirty="0"/>
              <a:t>Objectives</a:t>
            </a:r>
          </a:p>
        </p:txBody>
      </p:sp>
      <p:sp>
        <p:nvSpPr>
          <p:cNvPr id="184323" name="Rectangle 3">
            <a:extLst>
              <a:ext uri="{FF2B5EF4-FFF2-40B4-BE49-F238E27FC236}">
                <a16:creationId xmlns:a16="http://schemas.microsoft.com/office/drawing/2014/main" id="{C8CEAB97-FE72-0525-EB08-BDE00178C30D}"/>
              </a:ext>
            </a:extLst>
          </p:cNvPr>
          <p:cNvSpPr>
            <a:spLocks noGrp="1" noChangeArrowheads="1"/>
          </p:cNvSpPr>
          <p:nvPr>
            <p:ph type="body" idx="1"/>
          </p:nvPr>
        </p:nvSpPr>
        <p:spPr>
          <a:xfrm>
            <a:off x="914400" y="2819400"/>
            <a:ext cx="7620000" cy="1143000"/>
          </a:xfrm>
        </p:spPr>
        <p:txBody>
          <a:bodyPr/>
          <a:lstStyle/>
          <a:p>
            <a:pPr eaLnBrk="1" hangingPunct="1">
              <a:defRPr/>
            </a:pPr>
            <a:r>
              <a:rPr lang="en-US" sz="2400" dirty="0"/>
              <a:t>Complete introduction of MPI functions</a:t>
            </a:r>
          </a:p>
          <a:p>
            <a:pPr eaLnBrk="1" hangingPunct="1">
              <a:defRPr/>
            </a:pPr>
            <a:r>
              <a:rPr lang="en-US" sz="2400" dirty="0"/>
              <a:t>Show how to implement manager-worker programs</a:t>
            </a:r>
          </a:p>
        </p:txBody>
      </p:sp>
      <p:sp>
        <p:nvSpPr>
          <p:cNvPr id="2" name="Date Placeholder 1">
            <a:extLst>
              <a:ext uri="{FF2B5EF4-FFF2-40B4-BE49-F238E27FC236}">
                <a16:creationId xmlns:a16="http://schemas.microsoft.com/office/drawing/2014/main" id="{C8E8069F-20F4-81EA-5C99-4D85BC722081}"/>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1FFBCC3C-E04E-5303-8621-403AD861B84B}"/>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CADE1BC7-EEBD-EDED-D17C-D4E2FFE9392E}"/>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9E4EC291-7A4D-4151-8C0A-276F3551E6E5}" type="slidenum">
              <a:rPr lang="en-US" altLang="en-US" sz="1400" smtClean="0">
                <a:latin typeface="Arial" panose="020B0604020202020204" pitchFamily="34" charset="0"/>
              </a:rPr>
              <a:pPr>
                <a:spcBef>
                  <a:spcPct val="0"/>
                </a:spcBef>
                <a:buClrTx/>
                <a:buSzTx/>
                <a:buFontTx/>
                <a:buNone/>
                <a:defRPr/>
              </a:pPr>
              <a:t>3</a:t>
            </a:fld>
            <a:endParaRPr lang="en-US" altLang="en-US" sz="1400">
              <a:latin typeface="Arial" panose="020B0604020202020204" pitchFamily="34" charset="0"/>
            </a:endParaRPr>
          </a:p>
        </p:txBody>
      </p:sp>
      <p:sp>
        <p:nvSpPr>
          <p:cNvPr id="185346" name="Rectangle 2">
            <a:extLst>
              <a:ext uri="{FF2B5EF4-FFF2-40B4-BE49-F238E27FC236}">
                <a16:creationId xmlns:a16="http://schemas.microsoft.com/office/drawing/2014/main" id="{FE3974F0-0248-61FA-647D-F25FABCC7D2B}"/>
              </a:ext>
            </a:extLst>
          </p:cNvPr>
          <p:cNvSpPr>
            <a:spLocks noGrp="1" noChangeArrowheads="1"/>
          </p:cNvSpPr>
          <p:nvPr>
            <p:ph type="title"/>
          </p:nvPr>
        </p:nvSpPr>
        <p:spPr>
          <a:xfrm>
            <a:off x="457200" y="152400"/>
            <a:ext cx="8229600" cy="1371600"/>
          </a:xfrm>
        </p:spPr>
        <p:txBody>
          <a:bodyPr/>
          <a:lstStyle/>
          <a:p>
            <a:pPr eaLnBrk="1" hangingPunct="1">
              <a:defRPr/>
            </a:pPr>
            <a:r>
              <a:rPr lang="en-US" sz="3600" dirty="0"/>
              <a:t>Outline</a:t>
            </a:r>
          </a:p>
        </p:txBody>
      </p:sp>
      <p:sp>
        <p:nvSpPr>
          <p:cNvPr id="185347" name="Rectangle 3">
            <a:extLst>
              <a:ext uri="{FF2B5EF4-FFF2-40B4-BE49-F238E27FC236}">
                <a16:creationId xmlns:a16="http://schemas.microsoft.com/office/drawing/2014/main" id="{88EB4D07-7BF0-4C5E-F33F-FE574563229F}"/>
              </a:ext>
            </a:extLst>
          </p:cNvPr>
          <p:cNvSpPr>
            <a:spLocks noGrp="1" noChangeArrowheads="1"/>
          </p:cNvSpPr>
          <p:nvPr>
            <p:ph type="body" idx="1"/>
          </p:nvPr>
        </p:nvSpPr>
        <p:spPr>
          <a:xfrm>
            <a:off x="1828800" y="1905000"/>
            <a:ext cx="5638800" cy="2971800"/>
          </a:xfrm>
        </p:spPr>
        <p:txBody>
          <a:bodyPr/>
          <a:lstStyle/>
          <a:p>
            <a:pPr eaLnBrk="1" hangingPunct="1">
              <a:defRPr/>
            </a:pPr>
            <a:r>
              <a:rPr lang="en-US" sz="2400" dirty="0"/>
              <a:t>Introduce problem</a:t>
            </a:r>
          </a:p>
          <a:p>
            <a:pPr eaLnBrk="1" hangingPunct="1">
              <a:defRPr/>
            </a:pPr>
            <a:r>
              <a:rPr lang="en-US" sz="2400" dirty="0"/>
              <a:t>Parallel algorithm design</a:t>
            </a:r>
          </a:p>
          <a:p>
            <a:pPr eaLnBrk="1" hangingPunct="1">
              <a:defRPr/>
            </a:pPr>
            <a:r>
              <a:rPr lang="en-US" sz="2400" dirty="0"/>
              <a:t>Creating communicators</a:t>
            </a:r>
          </a:p>
          <a:p>
            <a:pPr eaLnBrk="1" hangingPunct="1">
              <a:defRPr/>
            </a:pPr>
            <a:r>
              <a:rPr lang="en-US" sz="2400" dirty="0"/>
              <a:t>Non-blocking communications</a:t>
            </a:r>
          </a:p>
          <a:p>
            <a:pPr eaLnBrk="1" hangingPunct="1">
              <a:defRPr/>
            </a:pPr>
            <a:r>
              <a:rPr lang="en-US" sz="2400" dirty="0"/>
              <a:t>Implementation</a:t>
            </a:r>
          </a:p>
          <a:p>
            <a:pPr eaLnBrk="1" hangingPunct="1">
              <a:defRPr/>
            </a:pPr>
            <a:r>
              <a:rPr lang="en-US" sz="2400" dirty="0"/>
              <a:t>Pipelining</a:t>
            </a:r>
          </a:p>
        </p:txBody>
      </p:sp>
      <p:sp>
        <p:nvSpPr>
          <p:cNvPr id="2" name="Date Placeholder 1">
            <a:extLst>
              <a:ext uri="{FF2B5EF4-FFF2-40B4-BE49-F238E27FC236}">
                <a16:creationId xmlns:a16="http://schemas.microsoft.com/office/drawing/2014/main" id="{E262C6FA-10FF-6219-1D37-7F5BB4273828}"/>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D0D868E2-480D-8351-F59E-44259007243C}"/>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FDCE029E-9482-2F5D-9023-CE949B28BD02}"/>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E75EC7CF-9D3B-43B7-A350-1CCFA0DA4809}" type="slidenum">
              <a:rPr lang="en-US" altLang="en-US" sz="1400" smtClean="0">
                <a:latin typeface="Arial" panose="020B0604020202020204" pitchFamily="34" charset="0"/>
              </a:rPr>
              <a:pPr>
                <a:spcBef>
                  <a:spcPct val="0"/>
                </a:spcBef>
                <a:buClrTx/>
                <a:buSzTx/>
                <a:buFontTx/>
                <a:buNone/>
                <a:defRPr/>
              </a:pPr>
              <a:t>4</a:t>
            </a:fld>
            <a:endParaRPr lang="en-US" altLang="en-US" sz="1400">
              <a:latin typeface="Arial" panose="020B0604020202020204" pitchFamily="34" charset="0"/>
            </a:endParaRPr>
          </a:p>
        </p:txBody>
      </p:sp>
      <p:sp>
        <p:nvSpPr>
          <p:cNvPr id="320514" name="Rectangle 2">
            <a:extLst>
              <a:ext uri="{FF2B5EF4-FFF2-40B4-BE49-F238E27FC236}">
                <a16:creationId xmlns:a16="http://schemas.microsoft.com/office/drawing/2014/main" id="{AA3CB38A-F3D0-99D4-FB89-E2FEB90743C8}"/>
              </a:ext>
            </a:extLst>
          </p:cNvPr>
          <p:cNvSpPr>
            <a:spLocks noGrp="1" noChangeArrowheads="1"/>
          </p:cNvSpPr>
          <p:nvPr>
            <p:ph type="title"/>
          </p:nvPr>
        </p:nvSpPr>
        <p:spPr>
          <a:xfrm>
            <a:off x="457200" y="152400"/>
            <a:ext cx="8229600" cy="1066800"/>
          </a:xfrm>
        </p:spPr>
        <p:txBody>
          <a:bodyPr/>
          <a:lstStyle/>
          <a:p>
            <a:pPr eaLnBrk="1" hangingPunct="1">
              <a:defRPr/>
            </a:pPr>
            <a:r>
              <a:rPr lang="en-US" sz="3200" dirty="0"/>
              <a:t>Document Classification Problem</a:t>
            </a:r>
          </a:p>
        </p:txBody>
      </p:sp>
      <p:sp>
        <p:nvSpPr>
          <p:cNvPr id="320515" name="Rectangle 3">
            <a:extLst>
              <a:ext uri="{FF2B5EF4-FFF2-40B4-BE49-F238E27FC236}">
                <a16:creationId xmlns:a16="http://schemas.microsoft.com/office/drawing/2014/main" id="{7B1725BC-1783-37E8-0375-AFA96D4241A5}"/>
              </a:ext>
            </a:extLst>
          </p:cNvPr>
          <p:cNvSpPr>
            <a:spLocks noGrp="1" noChangeArrowheads="1"/>
          </p:cNvSpPr>
          <p:nvPr>
            <p:ph type="body" idx="1"/>
          </p:nvPr>
        </p:nvSpPr>
        <p:spPr>
          <a:xfrm>
            <a:off x="457200" y="2286000"/>
            <a:ext cx="8229600" cy="2895600"/>
          </a:xfrm>
        </p:spPr>
        <p:txBody>
          <a:bodyPr/>
          <a:lstStyle/>
          <a:p>
            <a:pPr eaLnBrk="1" hangingPunct="1">
              <a:defRPr/>
            </a:pPr>
            <a:r>
              <a:rPr lang="en-US" sz="2400" dirty="0"/>
              <a:t>Search on the network for directories, subdirectories for documents (look for .html, .txt, .</a:t>
            </a:r>
            <a:r>
              <a:rPr lang="en-US" sz="2400" dirty="0" err="1"/>
              <a:t>tex</a:t>
            </a:r>
            <a:r>
              <a:rPr lang="en-US" sz="2400" dirty="0"/>
              <a:t>, etc.)</a:t>
            </a:r>
          </a:p>
          <a:p>
            <a:pPr eaLnBrk="1" hangingPunct="1">
              <a:defRPr/>
            </a:pPr>
            <a:r>
              <a:rPr lang="en-US" sz="2400" dirty="0"/>
              <a:t>Using a dictionary of key words, create a profile vector for each document</a:t>
            </a:r>
          </a:p>
          <a:p>
            <a:pPr eaLnBrk="1" hangingPunct="1">
              <a:defRPr/>
            </a:pPr>
            <a:r>
              <a:rPr lang="en-US" sz="2400" dirty="0"/>
              <a:t>Store profile vectors</a:t>
            </a:r>
            <a:endParaRPr lang="en-US" sz="2800" dirty="0"/>
          </a:p>
        </p:txBody>
      </p:sp>
      <p:sp>
        <p:nvSpPr>
          <p:cNvPr id="2" name="Date Placeholder 1">
            <a:extLst>
              <a:ext uri="{FF2B5EF4-FFF2-40B4-BE49-F238E27FC236}">
                <a16:creationId xmlns:a16="http://schemas.microsoft.com/office/drawing/2014/main" id="{578ED54D-DE14-2CDD-909C-503D5B470285}"/>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4E3019EC-A634-A6C7-9FC2-1D91A14FF851}"/>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B9F28C3-1C94-8F63-6844-8E5B82396919}"/>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48DBFE46-8011-4B78-8C3C-00ECCF2163C2}" type="slidenum">
              <a:rPr lang="en-US" altLang="en-US" sz="1400" smtClean="0">
                <a:latin typeface="Arial" panose="020B0604020202020204" pitchFamily="34" charset="0"/>
              </a:rPr>
              <a:pPr>
                <a:spcBef>
                  <a:spcPct val="0"/>
                </a:spcBef>
                <a:buClrTx/>
                <a:buSzTx/>
                <a:buFontTx/>
                <a:buNone/>
                <a:defRPr/>
              </a:pPr>
              <a:t>5</a:t>
            </a:fld>
            <a:endParaRPr lang="en-US" altLang="en-US" sz="1400">
              <a:latin typeface="Arial" panose="020B0604020202020204" pitchFamily="34" charset="0"/>
            </a:endParaRPr>
          </a:p>
        </p:txBody>
      </p:sp>
      <p:sp>
        <p:nvSpPr>
          <p:cNvPr id="284674" name="Rectangle 2">
            <a:extLst>
              <a:ext uri="{FF2B5EF4-FFF2-40B4-BE49-F238E27FC236}">
                <a16:creationId xmlns:a16="http://schemas.microsoft.com/office/drawing/2014/main" id="{D22F1ADC-F98E-B79C-8FA9-DBD58F71DD3A}"/>
              </a:ext>
            </a:extLst>
          </p:cNvPr>
          <p:cNvSpPr>
            <a:spLocks noGrp="1" noChangeArrowheads="1"/>
          </p:cNvSpPr>
          <p:nvPr>
            <p:ph type="title"/>
          </p:nvPr>
        </p:nvSpPr>
        <p:spPr>
          <a:xfrm>
            <a:off x="457200" y="152400"/>
            <a:ext cx="8229600" cy="914400"/>
          </a:xfrm>
        </p:spPr>
        <p:txBody>
          <a:bodyPr/>
          <a:lstStyle/>
          <a:p>
            <a:pPr eaLnBrk="1" hangingPunct="1">
              <a:defRPr/>
            </a:pPr>
            <a:r>
              <a:rPr lang="en-US" sz="3200" dirty="0"/>
              <a:t>Data Dependence Graph (1)</a:t>
            </a:r>
          </a:p>
        </p:txBody>
      </p:sp>
      <p:pic>
        <p:nvPicPr>
          <p:cNvPr id="8196" name="Picture 3" descr="DocumentClassTasks">
            <a:extLst>
              <a:ext uri="{FF2B5EF4-FFF2-40B4-BE49-F238E27FC236}">
                <a16:creationId xmlns:a16="http://schemas.microsoft.com/office/drawing/2014/main" id="{79154E32-EAA1-CB86-26A8-5E993E95E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1263651"/>
            <a:ext cx="3406929"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B840B09-1893-D504-BA24-4C8775D78A92}"/>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28BD0A24-DC2D-B3AF-FE5E-B7E692DB4ECE}"/>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9F09796-25B0-BE1A-922A-7DB6E70A7C77}"/>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23FE90C0-D6D2-4B8D-B4B9-4714B3F67AD4}" type="slidenum">
              <a:rPr lang="en-US" altLang="en-US" sz="1400" smtClean="0">
                <a:latin typeface="Arial" panose="020B0604020202020204" pitchFamily="34" charset="0"/>
              </a:rPr>
              <a:pPr>
                <a:spcBef>
                  <a:spcPct val="0"/>
                </a:spcBef>
                <a:buClrTx/>
                <a:buSzTx/>
                <a:buFontTx/>
                <a:buNone/>
                <a:defRPr/>
              </a:pPr>
              <a:t>6</a:t>
            </a:fld>
            <a:endParaRPr lang="en-US" altLang="en-US" sz="1400">
              <a:latin typeface="Arial" panose="020B0604020202020204" pitchFamily="34" charset="0"/>
            </a:endParaRPr>
          </a:p>
        </p:txBody>
      </p:sp>
      <p:sp>
        <p:nvSpPr>
          <p:cNvPr id="312322" name="Rectangle 1026">
            <a:extLst>
              <a:ext uri="{FF2B5EF4-FFF2-40B4-BE49-F238E27FC236}">
                <a16:creationId xmlns:a16="http://schemas.microsoft.com/office/drawing/2014/main" id="{9DFC345E-0458-F7BE-87A2-7E2282AC70A5}"/>
              </a:ext>
            </a:extLst>
          </p:cNvPr>
          <p:cNvSpPr>
            <a:spLocks noGrp="1" noChangeArrowheads="1"/>
          </p:cNvSpPr>
          <p:nvPr>
            <p:ph type="title"/>
          </p:nvPr>
        </p:nvSpPr>
        <p:spPr>
          <a:xfrm>
            <a:off x="533400" y="155575"/>
            <a:ext cx="8229600" cy="685800"/>
          </a:xfrm>
        </p:spPr>
        <p:txBody>
          <a:bodyPr/>
          <a:lstStyle/>
          <a:p>
            <a:pPr eaLnBrk="1" hangingPunct="1">
              <a:defRPr/>
            </a:pPr>
            <a:r>
              <a:rPr lang="en-US" sz="3200" dirty="0"/>
              <a:t>Partitioning and Communication</a:t>
            </a:r>
          </a:p>
        </p:txBody>
      </p:sp>
      <p:sp>
        <p:nvSpPr>
          <p:cNvPr id="312323" name="Rectangle 1027">
            <a:extLst>
              <a:ext uri="{FF2B5EF4-FFF2-40B4-BE49-F238E27FC236}">
                <a16:creationId xmlns:a16="http://schemas.microsoft.com/office/drawing/2014/main" id="{1B4DD534-C72A-DFA6-65DF-6453C0AB248E}"/>
              </a:ext>
            </a:extLst>
          </p:cNvPr>
          <p:cNvSpPr>
            <a:spLocks noGrp="1" noChangeArrowheads="1"/>
          </p:cNvSpPr>
          <p:nvPr>
            <p:ph type="body" idx="1"/>
          </p:nvPr>
        </p:nvSpPr>
        <p:spPr>
          <a:xfrm>
            <a:off x="533400" y="2590800"/>
            <a:ext cx="8229600" cy="1905000"/>
          </a:xfrm>
        </p:spPr>
        <p:txBody>
          <a:bodyPr/>
          <a:lstStyle/>
          <a:p>
            <a:pPr eaLnBrk="1" hangingPunct="1">
              <a:defRPr/>
            </a:pPr>
            <a:r>
              <a:rPr lang="en-US" sz="2400" dirty="0"/>
              <a:t>Most time spent reading documents and generating profile vectors</a:t>
            </a:r>
          </a:p>
          <a:p>
            <a:pPr eaLnBrk="1" hangingPunct="1">
              <a:defRPr/>
            </a:pPr>
            <a:r>
              <a:rPr lang="en-US" sz="2400" dirty="0"/>
              <a:t>Create two primitive tasks for each document</a:t>
            </a:r>
          </a:p>
          <a:p>
            <a:pPr eaLnBrk="1" hangingPunct="1">
              <a:buFont typeface="Wingdings" panose="05000000000000000000" pitchFamily="2" charset="2"/>
              <a:buNone/>
              <a:defRPr/>
            </a:pPr>
            <a:endParaRPr lang="en-US" dirty="0"/>
          </a:p>
        </p:txBody>
      </p:sp>
      <p:sp>
        <p:nvSpPr>
          <p:cNvPr id="2" name="Date Placeholder 1">
            <a:extLst>
              <a:ext uri="{FF2B5EF4-FFF2-40B4-BE49-F238E27FC236}">
                <a16:creationId xmlns:a16="http://schemas.microsoft.com/office/drawing/2014/main" id="{C227E96A-F2E9-5F61-0968-0D4CEAD9DB02}"/>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DC09B341-D4CF-3B81-5903-C2AB2D775BA3}"/>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711A1DE-2011-A526-2A08-CFD79A84B8A5}"/>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D641AE35-4136-415D-BD87-F29426302B43}" type="slidenum">
              <a:rPr lang="en-US" altLang="en-US" sz="1400" smtClean="0">
                <a:latin typeface="Arial" panose="020B0604020202020204" pitchFamily="34" charset="0"/>
              </a:rPr>
              <a:pPr>
                <a:spcBef>
                  <a:spcPct val="0"/>
                </a:spcBef>
                <a:buClrTx/>
                <a:buSzTx/>
                <a:buFontTx/>
                <a:buNone/>
                <a:defRPr/>
              </a:pPr>
              <a:t>7</a:t>
            </a:fld>
            <a:endParaRPr lang="en-US" altLang="en-US" sz="1400">
              <a:latin typeface="Arial" panose="020B0604020202020204" pitchFamily="34" charset="0"/>
            </a:endParaRPr>
          </a:p>
        </p:txBody>
      </p:sp>
      <p:sp>
        <p:nvSpPr>
          <p:cNvPr id="285698" name="Rectangle 2">
            <a:extLst>
              <a:ext uri="{FF2B5EF4-FFF2-40B4-BE49-F238E27FC236}">
                <a16:creationId xmlns:a16="http://schemas.microsoft.com/office/drawing/2014/main" id="{EB3BAB9E-19EB-9D3F-9D4D-61A06D69551A}"/>
              </a:ext>
            </a:extLst>
          </p:cNvPr>
          <p:cNvSpPr>
            <a:spLocks noGrp="1" noChangeArrowheads="1"/>
          </p:cNvSpPr>
          <p:nvPr>
            <p:ph type="title"/>
          </p:nvPr>
        </p:nvSpPr>
        <p:spPr>
          <a:xfrm>
            <a:off x="457200" y="0"/>
            <a:ext cx="8229600" cy="1143000"/>
          </a:xfrm>
        </p:spPr>
        <p:txBody>
          <a:bodyPr/>
          <a:lstStyle/>
          <a:p>
            <a:pPr eaLnBrk="1" hangingPunct="1">
              <a:defRPr/>
            </a:pPr>
            <a:r>
              <a:rPr lang="en-US" sz="3600" dirty="0"/>
              <a:t>Data Dependence Graph (2)</a:t>
            </a:r>
          </a:p>
        </p:txBody>
      </p:sp>
      <p:pic>
        <p:nvPicPr>
          <p:cNvPr id="10244" name="Picture 3" descr="DocumentClassParallelTasks">
            <a:extLst>
              <a:ext uri="{FF2B5EF4-FFF2-40B4-BE49-F238E27FC236}">
                <a16:creationId xmlns:a16="http://schemas.microsoft.com/office/drawing/2014/main" id="{2B374673-AAB5-774A-0EE6-5829FA8D06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0"/>
            <a:ext cx="517268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15E73333-88E3-6304-5CFA-18B016F18F67}"/>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033EF16D-1292-ABB3-5AF3-FFD6C608AAC8}"/>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D12CA625-4D02-F9EE-F590-3D89E67A8803}"/>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4D97C298-C299-420C-888B-A6531298A1B1}" type="slidenum">
              <a:rPr lang="en-US" altLang="en-US" sz="1400" smtClean="0">
                <a:latin typeface="Arial" panose="020B0604020202020204" pitchFamily="34" charset="0"/>
              </a:rPr>
              <a:pPr>
                <a:spcBef>
                  <a:spcPct val="0"/>
                </a:spcBef>
                <a:buClrTx/>
                <a:buSzTx/>
                <a:buFontTx/>
                <a:buNone/>
                <a:defRPr/>
              </a:pPr>
              <a:t>8</a:t>
            </a:fld>
            <a:endParaRPr lang="en-US" altLang="en-US" sz="1400">
              <a:latin typeface="Arial" panose="020B0604020202020204" pitchFamily="34" charset="0"/>
            </a:endParaRPr>
          </a:p>
        </p:txBody>
      </p:sp>
      <p:sp>
        <p:nvSpPr>
          <p:cNvPr id="287746" name="Rectangle 2">
            <a:extLst>
              <a:ext uri="{FF2B5EF4-FFF2-40B4-BE49-F238E27FC236}">
                <a16:creationId xmlns:a16="http://schemas.microsoft.com/office/drawing/2014/main" id="{B3CA716D-3169-7432-0D0B-B3A41BA1EAAF}"/>
              </a:ext>
            </a:extLst>
          </p:cNvPr>
          <p:cNvSpPr>
            <a:spLocks noGrp="1" noChangeArrowheads="1"/>
          </p:cNvSpPr>
          <p:nvPr>
            <p:ph type="title"/>
          </p:nvPr>
        </p:nvSpPr>
        <p:spPr>
          <a:xfrm>
            <a:off x="457200" y="0"/>
            <a:ext cx="8229600" cy="1371600"/>
          </a:xfrm>
        </p:spPr>
        <p:txBody>
          <a:bodyPr/>
          <a:lstStyle/>
          <a:p>
            <a:pPr eaLnBrk="1" hangingPunct="1">
              <a:defRPr/>
            </a:pPr>
            <a:r>
              <a:rPr lang="en-US" sz="3200" dirty="0"/>
              <a:t>Manager/worker-style Algorithm</a:t>
            </a:r>
          </a:p>
        </p:txBody>
      </p:sp>
      <p:pic>
        <p:nvPicPr>
          <p:cNvPr id="11268" name="Picture 3" descr="ManagerWorker">
            <a:extLst>
              <a:ext uri="{FF2B5EF4-FFF2-40B4-BE49-F238E27FC236}">
                <a16:creationId xmlns:a16="http://schemas.microsoft.com/office/drawing/2014/main" id="{2F8F1487-37CA-B914-ACE1-17ED492A6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0638" y="2286000"/>
            <a:ext cx="6042724"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F881BDF7-CE77-A96C-2C86-E86DB5C9DC8A}"/>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C6341619-A638-2B7F-BE7C-7A97A0D6DC10}"/>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6B90196-734F-A068-61C8-8D72CE0CEC56}"/>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52AF8367-A6D1-43ED-BF43-B5EB31400C0D}" type="slidenum">
              <a:rPr lang="en-US" altLang="en-US" sz="1400" smtClean="0">
                <a:latin typeface="Arial" panose="020B0604020202020204" pitchFamily="34" charset="0"/>
              </a:rPr>
              <a:pPr>
                <a:spcBef>
                  <a:spcPct val="0"/>
                </a:spcBef>
                <a:buClrTx/>
                <a:buSzTx/>
                <a:buFontTx/>
                <a:buNone/>
                <a:defRPr/>
              </a:pPr>
              <a:t>9</a:t>
            </a:fld>
            <a:endParaRPr lang="en-US" altLang="en-US" sz="1400">
              <a:latin typeface="Arial" panose="020B0604020202020204" pitchFamily="34" charset="0"/>
            </a:endParaRPr>
          </a:p>
        </p:txBody>
      </p:sp>
      <p:sp>
        <p:nvSpPr>
          <p:cNvPr id="286722" name="Rectangle 2">
            <a:extLst>
              <a:ext uri="{FF2B5EF4-FFF2-40B4-BE49-F238E27FC236}">
                <a16:creationId xmlns:a16="http://schemas.microsoft.com/office/drawing/2014/main" id="{2D1FCEDD-F995-C107-BDB8-4C7A7B296E13}"/>
              </a:ext>
            </a:extLst>
          </p:cNvPr>
          <p:cNvSpPr>
            <a:spLocks noGrp="1" noChangeArrowheads="1"/>
          </p:cNvSpPr>
          <p:nvPr>
            <p:ph type="title"/>
          </p:nvPr>
        </p:nvSpPr>
        <p:spPr>
          <a:xfrm>
            <a:off x="458788" y="0"/>
            <a:ext cx="8229600" cy="1143000"/>
          </a:xfrm>
        </p:spPr>
        <p:txBody>
          <a:bodyPr/>
          <a:lstStyle/>
          <a:p>
            <a:pPr eaLnBrk="1" hangingPunct="1">
              <a:defRPr/>
            </a:pPr>
            <a:r>
              <a:rPr lang="en-US" sz="3200" dirty="0"/>
              <a:t>Roles of Manager and Workers</a:t>
            </a:r>
          </a:p>
        </p:txBody>
      </p:sp>
      <p:pic>
        <p:nvPicPr>
          <p:cNvPr id="12292" name="Picture 3" descr="DocumentClassMgrWorker">
            <a:extLst>
              <a:ext uri="{FF2B5EF4-FFF2-40B4-BE49-F238E27FC236}">
                <a16:creationId xmlns:a16="http://schemas.microsoft.com/office/drawing/2014/main" id="{64C30323-A00D-201E-693D-7F8F27FDD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3509" y="1447800"/>
            <a:ext cx="4424581"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F03E0F5-30D8-6852-B09F-AF7E1203A80B}"/>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6CD3F0DC-A175-3DFA-5AA6-339E1ADBC679}"/>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13546DC-D51A-0809-FE05-4E590476C201}"/>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DB41E99C-3960-4E69-A4AC-989EC9E17D56}" type="slidenum">
              <a:rPr lang="en-US" altLang="en-US" sz="1400" smtClean="0">
                <a:latin typeface="Arial" panose="020B0604020202020204" pitchFamily="34" charset="0"/>
              </a:rPr>
              <a:pPr>
                <a:spcBef>
                  <a:spcPct val="0"/>
                </a:spcBef>
                <a:buClrTx/>
                <a:buSzTx/>
                <a:buFontTx/>
                <a:buNone/>
                <a:defRPr/>
              </a:pPr>
              <a:t>10</a:t>
            </a:fld>
            <a:endParaRPr lang="en-US" altLang="en-US" sz="1400">
              <a:latin typeface="Arial" panose="020B0604020202020204" pitchFamily="34" charset="0"/>
            </a:endParaRPr>
          </a:p>
        </p:txBody>
      </p:sp>
      <p:sp>
        <p:nvSpPr>
          <p:cNvPr id="313346" name="Rectangle 2">
            <a:extLst>
              <a:ext uri="{FF2B5EF4-FFF2-40B4-BE49-F238E27FC236}">
                <a16:creationId xmlns:a16="http://schemas.microsoft.com/office/drawing/2014/main" id="{C5C45EC6-1C93-9A51-F336-7CD1E9F917A1}"/>
              </a:ext>
            </a:extLst>
          </p:cNvPr>
          <p:cNvSpPr>
            <a:spLocks noGrp="1" noChangeArrowheads="1"/>
          </p:cNvSpPr>
          <p:nvPr>
            <p:ph type="title"/>
          </p:nvPr>
        </p:nvSpPr>
        <p:spPr>
          <a:xfrm>
            <a:off x="457200" y="0"/>
            <a:ext cx="8229600" cy="1371600"/>
          </a:xfrm>
        </p:spPr>
        <p:txBody>
          <a:bodyPr/>
          <a:lstStyle/>
          <a:p>
            <a:pPr eaLnBrk="1" hangingPunct="1">
              <a:defRPr/>
            </a:pPr>
            <a:r>
              <a:rPr lang="en-US" sz="3200" dirty="0"/>
              <a:t>Agglomeration and Mapping</a:t>
            </a:r>
          </a:p>
        </p:txBody>
      </p:sp>
      <p:sp>
        <p:nvSpPr>
          <p:cNvPr id="313347" name="Rectangle 3">
            <a:extLst>
              <a:ext uri="{FF2B5EF4-FFF2-40B4-BE49-F238E27FC236}">
                <a16:creationId xmlns:a16="http://schemas.microsoft.com/office/drawing/2014/main" id="{81F95E5E-5E9A-65F6-D9F7-1BF7931A6D48}"/>
              </a:ext>
            </a:extLst>
          </p:cNvPr>
          <p:cNvSpPr>
            <a:spLocks noGrp="1" noChangeArrowheads="1"/>
          </p:cNvSpPr>
          <p:nvPr>
            <p:ph type="body" idx="1"/>
          </p:nvPr>
        </p:nvSpPr>
        <p:spPr>
          <a:xfrm>
            <a:off x="990600" y="2362200"/>
            <a:ext cx="8534400" cy="2362200"/>
          </a:xfrm>
        </p:spPr>
        <p:txBody>
          <a:bodyPr/>
          <a:lstStyle/>
          <a:p>
            <a:pPr eaLnBrk="1" hangingPunct="1">
              <a:defRPr/>
            </a:pPr>
            <a:r>
              <a:rPr lang="en-US" sz="2400" dirty="0"/>
              <a:t>Number of tasks not known at compile time</a:t>
            </a:r>
          </a:p>
          <a:p>
            <a:pPr eaLnBrk="1" hangingPunct="1">
              <a:defRPr/>
            </a:pPr>
            <a:r>
              <a:rPr lang="en-US" sz="2400" dirty="0"/>
              <a:t>Tasks do not communicate with each other</a:t>
            </a:r>
          </a:p>
          <a:p>
            <a:pPr eaLnBrk="1" hangingPunct="1">
              <a:defRPr/>
            </a:pPr>
            <a:r>
              <a:rPr lang="en-US" sz="2400" dirty="0"/>
              <a:t>Time needed to perform tasks varies widely</a:t>
            </a:r>
          </a:p>
          <a:p>
            <a:pPr eaLnBrk="1" hangingPunct="1">
              <a:defRPr/>
            </a:pPr>
            <a:r>
              <a:rPr lang="en-US" sz="2400" dirty="0"/>
              <a:t>Strategy: map tasks to processes at run time</a:t>
            </a:r>
          </a:p>
        </p:txBody>
      </p:sp>
      <p:sp>
        <p:nvSpPr>
          <p:cNvPr id="2" name="Date Placeholder 1">
            <a:extLst>
              <a:ext uri="{FF2B5EF4-FFF2-40B4-BE49-F238E27FC236}">
                <a16:creationId xmlns:a16="http://schemas.microsoft.com/office/drawing/2014/main" id="{BD365EDC-F917-1BE2-0E9B-AA3742D7273A}"/>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06B01AE3-32BA-4263-7F9C-C85053074886}"/>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D3CFC33-D5C3-9195-540D-2AEE00B64D28}"/>
              </a:ext>
            </a:extLst>
          </p:cNvPr>
          <p:cNvSpPr>
            <a:spLocks noGrp="1"/>
          </p:cNvSpPr>
          <p:nvPr>
            <p:ph type="ftr" sz="quarter" idx="11"/>
          </p:nvPr>
        </p:nvSpPr>
        <p:spPr/>
        <p:txBody>
          <a:bodyPr/>
          <a:lstStyle/>
          <a:p>
            <a:pPr>
              <a:defRPr/>
            </a:pPr>
            <a:r>
              <a:rPr lang="en-US"/>
              <a:t>Principles of Programming Languages II</a:t>
            </a:r>
          </a:p>
        </p:txBody>
      </p:sp>
      <p:sp>
        <p:nvSpPr>
          <p:cNvPr id="5" name="Slide Number Placeholder 4">
            <a:extLst>
              <a:ext uri="{FF2B5EF4-FFF2-40B4-BE49-F238E27FC236}">
                <a16:creationId xmlns:a16="http://schemas.microsoft.com/office/drawing/2014/main" id="{72F71D87-5D77-F1F5-2ADF-F55AC4DE20E7}"/>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26E12FC2-E691-45A0-984B-312985B458D7}" type="slidenum">
              <a:rPr lang="en-US" altLang="en-US" sz="1400" smtClean="0">
                <a:latin typeface="Arial" panose="020B0604020202020204" pitchFamily="34" charset="0"/>
              </a:rPr>
              <a:pPr>
                <a:spcBef>
                  <a:spcPct val="0"/>
                </a:spcBef>
                <a:buClrTx/>
                <a:buSzTx/>
                <a:buFontTx/>
                <a:buNone/>
                <a:defRPr/>
              </a:pPr>
              <a:t>11</a:t>
            </a:fld>
            <a:endParaRPr lang="en-US" altLang="en-US" sz="1400">
              <a:latin typeface="Arial" panose="020B0604020202020204" pitchFamily="34" charset="0"/>
            </a:endParaRPr>
          </a:p>
        </p:txBody>
      </p:sp>
      <p:sp>
        <p:nvSpPr>
          <p:cNvPr id="290818" name="Rectangle 2">
            <a:extLst>
              <a:ext uri="{FF2B5EF4-FFF2-40B4-BE49-F238E27FC236}">
                <a16:creationId xmlns:a16="http://schemas.microsoft.com/office/drawing/2014/main" id="{73741CEE-4BE6-6B07-61D5-E69DA557CA22}"/>
              </a:ext>
            </a:extLst>
          </p:cNvPr>
          <p:cNvSpPr>
            <a:spLocks noGrp="1" noChangeArrowheads="1"/>
          </p:cNvSpPr>
          <p:nvPr>
            <p:ph type="title"/>
          </p:nvPr>
        </p:nvSpPr>
        <p:spPr>
          <a:xfrm>
            <a:off x="381000" y="0"/>
            <a:ext cx="8229600" cy="1143000"/>
          </a:xfrm>
        </p:spPr>
        <p:txBody>
          <a:bodyPr/>
          <a:lstStyle/>
          <a:p>
            <a:pPr eaLnBrk="1" hangingPunct="1">
              <a:defRPr/>
            </a:pPr>
            <a:r>
              <a:rPr lang="en-US" sz="3200" dirty="0"/>
              <a:t>Task/Channel Graph</a:t>
            </a:r>
          </a:p>
        </p:txBody>
      </p:sp>
      <p:pic>
        <p:nvPicPr>
          <p:cNvPr id="14341" name="Picture 3" descr="DocumentTaskGraph">
            <a:extLst>
              <a:ext uri="{FF2B5EF4-FFF2-40B4-BE49-F238E27FC236}">
                <a16:creationId xmlns:a16="http://schemas.microsoft.com/office/drawing/2014/main" id="{BC182710-5A57-7B8A-D039-64D9A5661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71600"/>
            <a:ext cx="681568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1EFD22A-9EDF-2064-A273-4DAC713FF105}"/>
              </a:ext>
            </a:extLst>
          </p:cNvPr>
          <p:cNvSpPr>
            <a:spLocks noGrp="1"/>
          </p:cNvSpPr>
          <p:nvPr>
            <p:ph type="dt" sz="quarter" idx="10"/>
          </p:nvPr>
        </p:nvSpPr>
        <p:spPr/>
        <p:txBody>
          <a:bodyPr/>
          <a:lstStyle/>
          <a:p>
            <a:pPr>
              <a:defRPr/>
            </a:pPr>
            <a:r>
              <a:rPr lang="en-US"/>
              <a:t>CS 362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29320E01-640A-3409-F426-6E6C680354F5}"/>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0CE96C95-6370-497E-8779-31E041AD620B}" type="slidenum">
              <a:rPr lang="en-US" altLang="en-US" sz="1400" smtClean="0">
                <a:latin typeface="Arial" panose="020B0604020202020204" pitchFamily="34" charset="0"/>
              </a:rPr>
              <a:pPr>
                <a:spcBef>
                  <a:spcPct val="0"/>
                </a:spcBef>
                <a:buClrTx/>
                <a:buSzTx/>
                <a:buFontTx/>
                <a:buNone/>
                <a:defRPr/>
              </a:pPr>
              <a:t>12</a:t>
            </a:fld>
            <a:endParaRPr lang="en-US" altLang="en-US" sz="1400">
              <a:latin typeface="Arial" panose="020B0604020202020204" pitchFamily="34" charset="0"/>
            </a:endParaRPr>
          </a:p>
        </p:txBody>
      </p:sp>
      <p:sp>
        <p:nvSpPr>
          <p:cNvPr id="314370" name="Rectangle 2">
            <a:extLst>
              <a:ext uri="{FF2B5EF4-FFF2-40B4-BE49-F238E27FC236}">
                <a16:creationId xmlns:a16="http://schemas.microsoft.com/office/drawing/2014/main" id="{A38066BD-2AB7-3D05-F769-010F391EA1E5}"/>
              </a:ext>
            </a:extLst>
          </p:cNvPr>
          <p:cNvSpPr>
            <a:spLocks noGrp="1" noChangeArrowheads="1"/>
          </p:cNvSpPr>
          <p:nvPr>
            <p:ph type="title"/>
          </p:nvPr>
        </p:nvSpPr>
        <p:spPr>
          <a:xfrm>
            <a:off x="457200" y="152400"/>
            <a:ext cx="8229600" cy="838200"/>
          </a:xfrm>
        </p:spPr>
        <p:txBody>
          <a:bodyPr/>
          <a:lstStyle/>
          <a:p>
            <a:pPr eaLnBrk="1" hangingPunct="1">
              <a:defRPr/>
            </a:pPr>
            <a:r>
              <a:rPr lang="en-US" sz="3200" dirty="0"/>
              <a:t>Manager/Worker</a:t>
            </a:r>
          </a:p>
        </p:txBody>
      </p:sp>
      <p:sp>
        <p:nvSpPr>
          <p:cNvPr id="314371" name="Rectangle 3">
            <a:extLst>
              <a:ext uri="{FF2B5EF4-FFF2-40B4-BE49-F238E27FC236}">
                <a16:creationId xmlns:a16="http://schemas.microsoft.com/office/drawing/2014/main" id="{5C950A5B-D660-F1BB-3566-73B6F1BEA72B}"/>
              </a:ext>
            </a:extLst>
          </p:cNvPr>
          <p:cNvSpPr>
            <a:spLocks noGrp="1" noChangeArrowheads="1"/>
          </p:cNvSpPr>
          <p:nvPr>
            <p:ph type="body" idx="1"/>
          </p:nvPr>
        </p:nvSpPr>
        <p:spPr>
          <a:xfrm>
            <a:off x="494211" y="1905000"/>
            <a:ext cx="7659189" cy="2743200"/>
          </a:xfrm>
        </p:spPr>
        <p:txBody>
          <a:bodyPr/>
          <a:lstStyle/>
          <a:p>
            <a:pPr eaLnBrk="1" hangingPunct="1">
              <a:lnSpc>
                <a:spcPct val="90000"/>
              </a:lnSpc>
              <a:defRPr/>
            </a:pPr>
            <a:r>
              <a:rPr lang="en-US" sz="2000" dirty="0"/>
              <a:t>Manager process has different responsibilities than worker processes</a:t>
            </a:r>
          </a:p>
          <a:p>
            <a:pPr eaLnBrk="1" hangingPunct="1">
              <a:lnSpc>
                <a:spcPct val="90000"/>
              </a:lnSpc>
              <a:defRPr/>
            </a:pPr>
            <a:r>
              <a:rPr lang="en-US" sz="2000" dirty="0"/>
              <a:t>An MPI manager/worker program has an early control flow split (manager process one way, worker processes the other way)</a:t>
            </a:r>
          </a:p>
          <a:p>
            <a:pPr eaLnBrk="1" hangingPunct="1">
              <a:lnSpc>
                <a:spcPct val="90000"/>
              </a:lnSpc>
              <a:defRPr/>
            </a:pPr>
            <a:r>
              <a:rPr lang="en-US" sz="2000" dirty="0"/>
              <a:t>We need to decide which process will be the manager. It makes no difference, but for the sake of simplicity, let us assign the manager role to the process with rank 0 in MPI_COMM_WORLD; processes with ranks 1,2, ... , p-1 will be the workers.</a:t>
            </a:r>
          </a:p>
        </p:txBody>
      </p:sp>
      <p:sp>
        <p:nvSpPr>
          <p:cNvPr id="2" name="Date Placeholder 1">
            <a:extLst>
              <a:ext uri="{FF2B5EF4-FFF2-40B4-BE49-F238E27FC236}">
                <a16:creationId xmlns:a16="http://schemas.microsoft.com/office/drawing/2014/main" id="{9A414FC3-2EA0-4C01-EC32-9768CCC667B1}"/>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62F1EE39-AC24-BE5E-3D50-511950CDF7E0}"/>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807573E-2D74-2DAB-4C35-93D36295BD38}"/>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D517866C-B65B-4C1A-A1B9-6C6252C07102}" type="slidenum">
              <a:rPr lang="en-US" altLang="en-US" sz="1400" smtClean="0">
                <a:latin typeface="Arial" panose="020B0604020202020204" pitchFamily="34" charset="0"/>
              </a:rPr>
              <a:pPr>
                <a:spcBef>
                  <a:spcPct val="0"/>
                </a:spcBef>
                <a:buClrTx/>
                <a:buSzTx/>
                <a:buFontTx/>
                <a:buNone/>
                <a:defRPr/>
              </a:pPr>
              <a:t>13</a:t>
            </a:fld>
            <a:endParaRPr lang="en-US" altLang="en-US" sz="1400">
              <a:latin typeface="Arial" panose="020B0604020202020204" pitchFamily="34" charset="0"/>
            </a:endParaRPr>
          </a:p>
        </p:txBody>
      </p:sp>
      <p:sp>
        <p:nvSpPr>
          <p:cNvPr id="288770" name="Rectangle 2">
            <a:extLst>
              <a:ext uri="{FF2B5EF4-FFF2-40B4-BE49-F238E27FC236}">
                <a16:creationId xmlns:a16="http://schemas.microsoft.com/office/drawing/2014/main" id="{BFC13FF8-7F5B-F5BE-3859-7F1AD5845D74}"/>
              </a:ext>
            </a:extLst>
          </p:cNvPr>
          <p:cNvSpPr>
            <a:spLocks noGrp="1" noChangeArrowheads="1"/>
          </p:cNvSpPr>
          <p:nvPr>
            <p:ph type="title"/>
          </p:nvPr>
        </p:nvSpPr>
        <p:spPr>
          <a:xfrm>
            <a:off x="457200" y="152400"/>
            <a:ext cx="8229600" cy="1143000"/>
          </a:xfrm>
        </p:spPr>
        <p:txBody>
          <a:bodyPr/>
          <a:lstStyle/>
          <a:p>
            <a:pPr eaLnBrk="1" hangingPunct="1">
              <a:defRPr/>
            </a:pPr>
            <a:r>
              <a:rPr lang="en-US" sz="3200" dirty="0"/>
              <a:t>Manager Pseudocode</a:t>
            </a:r>
          </a:p>
        </p:txBody>
      </p:sp>
      <p:sp>
        <p:nvSpPr>
          <p:cNvPr id="16388" name="Text Box 3">
            <a:extLst>
              <a:ext uri="{FF2B5EF4-FFF2-40B4-BE49-F238E27FC236}">
                <a16:creationId xmlns:a16="http://schemas.microsoft.com/office/drawing/2014/main" id="{21D7156B-880D-FD93-9A26-E6B29B6C3FDA}"/>
              </a:ext>
            </a:extLst>
          </p:cNvPr>
          <p:cNvSpPr txBox="1">
            <a:spLocks noChangeArrowheads="1"/>
          </p:cNvSpPr>
          <p:nvPr/>
        </p:nvSpPr>
        <p:spPr bwMode="auto">
          <a:xfrm>
            <a:off x="1143000" y="1700213"/>
            <a:ext cx="70866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dirty="0">
                <a:latin typeface="Arial Unicode MS" pitchFamily="34" charset="-128"/>
              </a:rPr>
              <a:t>Identify documents</a:t>
            </a:r>
          </a:p>
          <a:p>
            <a:pPr eaLnBrk="1" hangingPunct="1">
              <a:spcBef>
                <a:spcPct val="0"/>
              </a:spcBef>
              <a:buClrTx/>
              <a:buSzTx/>
              <a:buFontTx/>
              <a:buNone/>
            </a:pPr>
            <a:r>
              <a:rPr lang="en-US" altLang="en-US" sz="1800" dirty="0">
                <a:latin typeface="Arial Unicode MS" pitchFamily="34" charset="-128"/>
              </a:rPr>
              <a:t>Receive dictionary size from worker 0</a:t>
            </a:r>
          </a:p>
          <a:p>
            <a:pPr eaLnBrk="1" hangingPunct="1">
              <a:spcBef>
                <a:spcPct val="0"/>
              </a:spcBef>
              <a:buClrTx/>
              <a:buSzTx/>
              <a:buFontTx/>
              <a:buNone/>
            </a:pPr>
            <a:r>
              <a:rPr lang="en-US" altLang="en-US" sz="1800" dirty="0">
                <a:latin typeface="Arial Unicode MS" pitchFamily="34" charset="-128"/>
              </a:rPr>
              <a:t>Allocate matrix to store document vectors</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repeat</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	Receive message from worker</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	if message contains document vector</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		Store document vector</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	endif</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	if documents remain then Send worker file name</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	else Send worker termination message</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	endif</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until all workers terminated</a:t>
            </a:r>
          </a:p>
          <a:p>
            <a:pPr eaLnBrk="1" hangingPunct="1">
              <a:spcBef>
                <a:spcPct val="0"/>
              </a:spcBef>
              <a:buClrTx/>
              <a:buSzTx/>
              <a:buFontTx/>
              <a:buNone/>
            </a:pPr>
            <a:r>
              <a:rPr lang="en-US" altLang="en-US" sz="1800" dirty="0">
                <a:latin typeface="Arial Unicode MS" pitchFamily="34" charset="-128"/>
                <a:sym typeface="Symbol" panose="05050102010706020507" pitchFamily="18" charset="2"/>
              </a:rPr>
              <a:t>Write document vectors to file</a:t>
            </a:r>
            <a:endParaRPr lang="en-US" altLang="en-US" sz="2400" dirty="0">
              <a:latin typeface="Arial Unicode MS" pitchFamily="34" charset="-128"/>
            </a:endParaRPr>
          </a:p>
        </p:txBody>
      </p:sp>
      <p:sp>
        <p:nvSpPr>
          <p:cNvPr id="2" name="Date Placeholder 1">
            <a:extLst>
              <a:ext uri="{FF2B5EF4-FFF2-40B4-BE49-F238E27FC236}">
                <a16:creationId xmlns:a16="http://schemas.microsoft.com/office/drawing/2014/main" id="{9DD92B5A-B2A2-46D9-66E5-0882C9819408}"/>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D01A5ED2-32BC-60A9-2CAC-1170488FF783}"/>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474FE96-BB4E-F61B-66BF-29EC34DE79CD}"/>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41290CA8-101E-41FB-A7C1-11C3B94A2A6F}" type="slidenum">
              <a:rPr lang="en-US" altLang="en-US" sz="1400" smtClean="0">
                <a:latin typeface="Arial" panose="020B0604020202020204" pitchFamily="34" charset="0"/>
              </a:rPr>
              <a:pPr>
                <a:spcBef>
                  <a:spcPct val="0"/>
                </a:spcBef>
                <a:buClrTx/>
                <a:buSzTx/>
                <a:buFontTx/>
                <a:buNone/>
                <a:defRPr/>
              </a:pPr>
              <a:t>14</a:t>
            </a:fld>
            <a:endParaRPr lang="en-US" altLang="en-US" sz="1400">
              <a:latin typeface="Arial" panose="020B0604020202020204" pitchFamily="34" charset="0"/>
            </a:endParaRPr>
          </a:p>
        </p:txBody>
      </p:sp>
      <p:sp>
        <p:nvSpPr>
          <p:cNvPr id="289794" name="Rectangle 2">
            <a:extLst>
              <a:ext uri="{FF2B5EF4-FFF2-40B4-BE49-F238E27FC236}">
                <a16:creationId xmlns:a16="http://schemas.microsoft.com/office/drawing/2014/main" id="{007A4085-F7B0-18FA-6FC0-023CA69D7D38}"/>
              </a:ext>
            </a:extLst>
          </p:cNvPr>
          <p:cNvSpPr>
            <a:spLocks noGrp="1" noChangeArrowheads="1"/>
          </p:cNvSpPr>
          <p:nvPr>
            <p:ph type="title"/>
          </p:nvPr>
        </p:nvSpPr>
        <p:spPr>
          <a:xfrm>
            <a:off x="457200" y="152400"/>
            <a:ext cx="8229600" cy="1066800"/>
          </a:xfrm>
        </p:spPr>
        <p:txBody>
          <a:bodyPr/>
          <a:lstStyle/>
          <a:p>
            <a:pPr eaLnBrk="1" hangingPunct="1">
              <a:defRPr/>
            </a:pPr>
            <a:r>
              <a:rPr lang="en-US" sz="3200" dirty="0"/>
              <a:t>Worker Pseudocode</a:t>
            </a:r>
          </a:p>
        </p:txBody>
      </p:sp>
      <p:sp>
        <p:nvSpPr>
          <p:cNvPr id="17412" name="Text Box 3">
            <a:extLst>
              <a:ext uri="{FF2B5EF4-FFF2-40B4-BE49-F238E27FC236}">
                <a16:creationId xmlns:a16="http://schemas.microsoft.com/office/drawing/2014/main" id="{71E5CAFE-A85D-7C6E-357A-8CD0D9FA6701}"/>
              </a:ext>
            </a:extLst>
          </p:cNvPr>
          <p:cNvSpPr txBox="1">
            <a:spLocks noChangeArrowheads="1"/>
          </p:cNvSpPr>
          <p:nvPr/>
        </p:nvSpPr>
        <p:spPr bwMode="auto">
          <a:xfrm>
            <a:off x="1507018" y="1447800"/>
            <a:ext cx="5991225"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dirty="0">
                <a:latin typeface="Arial Unicode MS" pitchFamily="34" charset="-128"/>
              </a:rPr>
              <a:t>Send first request for work to manager</a:t>
            </a:r>
          </a:p>
          <a:p>
            <a:pPr eaLnBrk="1" hangingPunct="1">
              <a:spcBef>
                <a:spcPct val="0"/>
              </a:spcBef>
              <a:buClrTx/>
              <a:buSzTx/>
              <a:buFontTx/>
              <a:buNone/>
            </a:pPr>
            <a:r>
              <a:rPr lang="en-US" altLang="en-US" sz="1800" dirty="0">
                <a:latin typeface="Arial Unicode MS" pitchFamily="34" charset="-128"/>
              </a:rPr>
              <a:t>if worker 0 then</a:t>
            </a:r>
          </a:p>
          <a:p>
            <a:pPr eaLnBrk="1" hangingPunct="1">
              <a:spcBef>
                <a:spcPct val="0"/>
              </a:spcBef>
              <a:buClrTx/>
              <a:buSzTx/>
              <a:buFontTx/>
              <a:buNone/>
            </a:pPr>
            <a:r>
              <a:rPr lang="en-US" altLang="en-US" sz="1800" dirty="0">
                <a:latin typeface="Arial Unicode MS" pitchFamily="34" charset="-128"/>
              </a:rPr>
              <a:t>	Read dictionary from file</a:t>
            </a:r>
          </a:p>
          <a:p>
            <a:pPr eaLnBrk="1" hangingPunct="1">
              <a:spcBef>
                <a:spcPct val="0"/>
              </a:spcBef>
              <a:buClrTx/>
              <a:buSzTx/>
              <a:buFontTx/>
              <a:buNone/>
            </a:pPr>
            <a:r>
              <a:rPr lang="en-US" altLang="en-US" sz="1800" dirty="0">
                <a:latin typeface="Arial Unicode MS" pitchFamily="34" charset="-128"/>
              </a:rPr>
              <a:t>endif</a:t>
            </a:r>
          </a:p>
          <a:p>
            <a:pPr eaLnBrk="1" hangingPunct="1">
              <a:spcBef>
                <a:spcPct val="0"/>
              </a:spcBef>
              <a:buClrTx/>
              <a:buSzTx/>
              <a:buFontTx/>
              <a:buNone/>
            </a:pPr>
            <a:r>
              <a:rPr lang="en-US" altLang="en-US" sz="1800" dirty="0">
                <a:latin typeface="Arial Unicode MS" pitchFamily="34" charset="-128"/>
              </a:rPr>
              <a:t>Broadcast dictionary among workers</a:t>
            </a:r>
          </a:p>
          <a:p>
            <a:pPr eaLnBrk="1" hangingPunct="1">
              <a:spcBef>
                <a:spcPct val="0"/>
              </a:spcBef>
              <a:buClrTx/>
              <a:buSzTx/>
              <a:buFontTx/>
              <a:buNone/>
            </a:pPr>
            <a:r>
              <a:rPr lang="en-US" altLang="en-US" sz="1800" dirty="0">
                <a:latin typeface="Arial Unicode MS" pitchFamily="34" charset="-128"/>
              </a:rPr>
              <a:t>Build hash table from dictionary</a:t>
            </a:r>
          </a:p>
          <a:p>
            <a:pPr eaLnBrk="1" hangingPunct="1">
              <a:spcBef>
                <a:spcPct val="0"/>
              </a:spcBef>
              <a:buClrTx/>
              <a:buSzTx/>
              <a:buFontTx/>
              <a:buNone/>
            </a:pPr>
            <a:r>
              <a:rPr lang="en-US" altLang="en-US" sz="1800" dirty="0">
                <a:latin typeface="Arial Unicode MS" pitchFamily="34" charset="-128"/>
              </a:rPr>
              <a:t>if worker 0 then</a:t>
            </a:r>
          </a:p>
          <a:p>
            <a:pPr eaLnBrk="1" hangingPunct="1">
              <a:spcBef>
                <a:spcPct val="0"/>
              </a:spcBef>
              <a:buClrTx/>
              <a:buSzTx/>
              <a:buFontTx/>
              <a:buNone/>
            </a:pPr>
            <a:r>
              <a:rPr lang="en-US" altLang="en-US" sz="1800" dirty="0">
                <a:latin typeface="Arial Unicode MS" pitchFamily="34" charset="-128"/>
              </a:rPr>
              <a:t>	Send dictionary size to manager</a:t>
            </a:r>
          </a:p>
          <a:p>
            <a:pPr eaLnBrk="1" hangingPunct="1">
              <a:spcBef>
                <a:spcPct val="0"/>
              </a:spcBef>
              <a:buClrTx/>
              <a:buSzTx/>
              <a:buFontTx/>
              <a:buNone/>
            </a:pPr>
            <a:r>
              <a:rPr lang="en-US" altLang="en-US" sz="1800" dirty="0">
                <a:latin typeface="Arial Unicode MS" pitchFamily="34" charset="-128"/>
              </a:rPr>
              <a:t>endif</a:t>
            </a:r>
          </a:p>
          <a:p>
            <a:pPr eaLnBrk="1" hangingPunct="1">
              <a:spcBef>
                <a:spcPct val="0"/>
              </a:spcBef>
              <a:buClrTx/>
              <a:buSzTx/>
              <a:buFontTx/>
              <a:buNone/>
            </a:pPr>
            <a:r>
              <a:rPr lang="en-US" altLang="en-US" sz="1800" dirty="0">
                <a:latin typeface="Arial Unicode MS" pitchFamily="34" charset="-128"/>
              </a:rPr>
              <a:t>repeat</a:t>
            </a:r>
          </a:p>
          <a:p>
            <a:pPr eaLnBrk="1" hangingPunct="1">
              <a:spcBef>
                <a:spcPct val="0"/>
              </a:spcBef>
              <a:buClrTx/>
              <a:buSzTx/>
              <a:buFontTx/>
              <a:buNone/>
            </a:pPr>
            <a:r>
              <a:rPr lang="en-US" altLang="en-US" sz="1800" dirty="0">
                <a:latin typeface="Arial Unicode MS" pitchFamily="34" charset="-128"/>
              </a:rPr>
              <a:t>	Receive file name from manager</a:t>
            </a:r>
          </a:p>
          <a:p>
            <a:pPr eaLnBrk="1" hangingPunct="1">
              <a:spcBef>
                <a:spcPct val="0"/>
              </a:spcBef>
              <a:buClrTx/>
              <a:buSzTx/>
              <a:buFontTx/>
              <a:buNone/>
            </a:pPr>
            <a:r>
              <a:rPr lang="en-US" altLang="en-US" sz="1800" dirty="0">
                <a:latin typeface="Arial Unicode MS" pitchFamily="34" charset="-128"/>
              </a:rPr>
              <a:t>	if file name is NULL then terminate endif</a:t>
            </a:r>
          </a:p>
          <a:p>
            <a:pPr eaLnBrk="1" hangingPunct="1">
              <a:spcBef>
                <a:spcPct val="0"/>
              </a:spcBef>
              <a:buClrTx/>
              <a:buSzTx/>
              <a:buFontTx/>
              <a:buNone/>
            </a:pPr>
            <a:r>
              <a:rPr lang="en-US" altLang="en-US" sz="1800" dirty="0">
                <a:latin typeface="Arial Unicode MS" pitchFamily="34" charset="-128"/>
              </a:rPr>
              <a:t>	Read document, generate document vector</a:t>
            </a:r>
          </a:p>
          <a:p>
            <a:pPr eaLnBrk="1" hangingPunct="1">
              <a:spcBef>
                <a:spcPct val="0"/>
              </a:spcBef>
              <a:buClrTx/>
              <a:buSzTx/>
              <a:buFontTx/>
              <a:buNone/>
            </a:pPr>
            <a:r>
              <a:rPr lang="en-US" altLang="en-US" sz="1800" dirty="0">
                <a:latin typeface="Arial Unicode MS" pitchFamily="34" charset="-128"/>
              </a:rPr>
              <a:t>	Send document vector to manager</a:t>
            </a:r>
          </a:p>
          <a:p>
            <a:pPr eaLnBrk="1" hangingPunct="1">
              <a:spcBef>
                <a:spcPct val="0"/>
              </a:spcBef>
              <a:buClrTx/>
              <a:buSzTx/>
              <a:buFontTx/>
              <a:buNone/>
            </a:pPr>
            <a:r>
              <a:rPr lang="en-US" altLang="en-US" sz="1800" dirty="0">
                <a:latin typeface="Arial Unicode MS" pitchFamily="34" charset="-128"/>
              </a:rPr>
              <a:t>forever</a:t>
            </a:r>
          </a:p>
        </p:txBody>
      </p:sp>
      <p:sp>
        <p:nvSpPr>
          <p:cNvPr id="2" name="Date Placeholder 1">
            <a:extLst>
              <a:ext uri="{FF2B5EF4-FFF2-40B4-BE49-F238E27FC236}">
                <a16:creationId xmlns:a16="http://schemas.microsoft.com/office/drawing/2014/main" id="{B4FDB728-605D-8A64-1328-4FBE68601229}"/>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AB36248A-E377-B3EA-0B70-9256B68ACB78}"/>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52FBA4B-605D-6C18-0ED0-F9A92EC0D0A0}"/>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1D8AA575-C04E-4E6F-BCC1-27F3F2A65108}" type="slidenum">
              <a:rPr lang="en-US" altLang="en-US" sz="1400" smtClean="0">
                <a:latin typeface="Arial" panose="020B0604020202020204" pitchFamily="34" charset="0"/>
              </a:rPr>
              <a:pPr>
                <a:spcBef>
                  <a:spcPct val="0"/>
                </a:spcBef>
                <a:buClrTx/>
                <a:buSzTx/>
                <a:buFontTx/>
                <a:buNone/>
                <a:defRPr/>
              </a:pPr>
              <a:t>15</a:t>
            </a:fld>
            <a:endParaRPr lang="en-US" altLang="en-US" sz="1400">
              <a:latin typeface="Arial" panose="020B0604020202020204" pitchFamily="34" charset="0"/>
            </a:endParaRPr>
          </a:p>
        </p:txBody>
      </p:sp>
      <p:sp>
        <p:nvSpPr>
          <p:cNvPr id="315394" name="Rectangle 2">
            <a:extLst>
              <a:ext uri="{FF2B5EF4-FFF2-40B4-BE49-F238E27FC236}">
                <a16:creationId xmlns:a16="http://schemas.microsoft.com/office/drawing/2014/main" id="{AF0EFBC5-8441-C768-94DF-07AAFA7EE01F}"/>
              </a:ext>
            </a:extLst>
          </p:cNvPr>
          <p:cNvSpPr>
            <a:spLocks noGrp="1" noChangeArrowheads="1"/>
          </p:cNvSpPr>
          <p:nvPr>
            <p:ph type="title"/>
          </p:nvPr>
        </p:nvSpPr>
        <p:spPr>
          <a:xfrm>
            <a:off x="457200" y="0"/>
            <a:ext cx="8229600" cy="1371600"/>
          </a:xfrm>
        </p:spPr>
        <p:txBody>
          <a:bodyPr/>
          <a:lstStyle/>
          <a:p>
            <a:pPr eaLnBrk="1" hangingPunct="1">
              <a:defRPr/>
            </a:pPr>
            <a:r>
              <a:rPr lang="en-US" sz="3200" dirty="0" err="1"/>
              <a:t>MPI_Abort</a:t>
            </a:r>
            <a:endParaRPr lang="en-US" sz="3200" dirty="0"/>
          </a:p>
        </p:txBody>
      </p:sp>
      <p:sp>
        <p:nvSpPr>
          <p:cNvPr id="315395" name="Rectangle 3">
            <a:extLst>
              <a:ext uri="{FF2B5EF4-FFF2-40B4-BE49-F238E27FC236}">
                <a16:creationId xmlns:a16="http://schemas.microsoft.com/office/drawing/2014/main" id="{07CFFDD3-68A1-4035-EF9D-2506C8F62E6A}"/>
              </a:ext>
            </a:extLst>
          </p:cNvPr>
          <p:cNvSpPr>
            <a:spLocks noGrp="1" noChangeArrowheads="1"/>
          </p:cNvSpPr>
          <p:nvPr>
            <p:ph type="body" idx="1"/>
          </p:nvPr>
        </p:nvSpPr>
        <p:spPr>
          <a:xfrm>
            <a:off x="914400" y="2362200"/>
            <a:ext cx="7010400" cy="1828800"/>
          </a:xfrm>
        </p:spPr>
        <p:txBody>
          <a:bodyPr/>
          <a:lstStyle/>
          <a:p>
            <a:pPr eaLnBrk="1" hangingPunct="1">
              <a:defRPr/>
            </a:pPr>
            <a:r>
              <a:rPr lang="en-US" sz="2000" dirty="0"/>
              <a:t>A “quick and dirty” way for one process to terminate all processes in a specified communicator</a:t>
            </a:r>
          </a:p>
          <a:p>
            <a:pPr eaLnBrk="1" hangingPunct="1">
              <a:defRPr/>
            </a:pPr>
            <a:r>
              <a:rPr lang="en-US" sz="2000" dirty="0"/>
              <a:t>Example use: If manager cannot allocate memory needed to store document profile vectors</a:t>
            </a:r>
          </a:p>
        </p:txBody>
      </p:sp>
      <p:sp>
        <p:nvSpPr>
          <p:cNvPr id="2" name="Date Placeholder 1">
            <a:extLst>
              <a:ext uri="{FF2B5EF4-FFF2-40B4-BE49-F238E27FC236}">
                <a16:creationId xmlns:a16="http://schemas.microsoft.com/office/drawing/2014/main" id="{C206B83C-2F0D-DF24-3F9B-55E6A24622F4}"/>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792D4091-9255-0656-B3F7-42B9DDD0C73B}"/>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D02D21A5-AB52-5424-C29B-34A0C5BB989E}"/>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D0A2E808-9C7B-45DD-BBAB-2CA6182FAA06}" type="slidenum">
              <a:rPr lang="en-US" altLang="en-US" sz="1400" smtClean="0">
                <a:latin typeface="Arial" panose="020B0604020202020204" pitchFamily="34" charset="0"/>
              </a:rPr>
              <a:pPr>
                <a:spcBef>
                  <a:spcPct val="0"/>
                </a:spcBef>
                <a:buClrTx/>
                <a:buSzTx/>
                <a:buFontTx/>
                <a:buNone/>
                <a:defRPr/>
              </a:pPr>
              <a:t>16</a:t>
            </a:fld>
            <a:endParaRPr lang="en-US" altLang="en-US" sz="1400">
              <a:latin typeface="Arial" panose="020B0604020202020204" pitchFamily="34" charset="0"/>
            </a:endParaRPr>
          </a:p>
        </p:txBody>
      </p:sp>
      <p:sp>
        <p:nvSpPr>
          <p:cNvPr id="317442" name="Rectangle 2">
            <a:extLst>
              <a:ext uri="{FF2B5EF4-FFF2-40B4-BE49-F238E27FC236}">
                <a16:creationId xmlns:a16="http://schemas.microsoft.com/office/drawing/2014/main" id="{EFAC8A29-21B1-83F2-5645-6B93A03C9588}"/>
              </a:ext>
            </a:extLst>
          </p:cNvPr>
          <p:cNvSpPr>
            <a:spLocks noGrp="1" noChangeArrowheads="1"/>
          </p:cNvSpPr>
          <p:nvPr>
            <p:ph type="title"/>
          </p:nvPr>
        </p:nvSpPr>
        <p:spPr>
          <a:xfrm>
            <a:off x="533400" y="-76200"/>
            <a:ext cx="8229600" cy="1371600"/>
          </a:xfrm>
        </p:spPr>
        <p:txBody>
          <a:bodyPr/>
          <a:lstStyle/>
          <a:p>
            <a:pPr eaLnBrk="1" hangingPunct="1">
              <a:defRPr/>
            </a:pPr>
            <a:r>
              <a:rPr lang="en-US" sz="2800" dirty="0"/>
              <a:t>Creating a Workers-only Communicator</a:t>
            </a:r>
          </a:p>
        </p:txBody>
      </p:sp>
      <p:sp>
        <p:nvSpPr>
          <p:cNvPr id="317443" name="Rectangle 3">
            <a:extLst>
              <a:ext uri="{FF2B5EF4-FFF2-40B4-BE49-F238E27FC236}">
                <a16:creationId xmlns:a16="http://schemas.microsoft.com/office/drawing/2014/main" id="{748B2339-A312-D996-33D7-952E7F110D86}"/>
              </a:ext>
            </a:extLst>
          </p:cNvPr>
          <p:cNvSpPr>
            <a:spLocks noGrp="1" noChangeArrowheads="1"/>
          </p:cNvSpPr>
          <p:nvPr>
            <p:ph type="body" idx="1"/>
          </p:nvPr>
        </p:nvSpPr>
        <p:spPr>
          <a:xfrm>
            <a:off x="952500" y="2133600"/>
            <a:ext cx="7239000" cy="2457450"/>
          </a:xfrm>
        </p:spPr>
        <p:txBody>
          <a:bodyPr/>
          <a:lstStyle/>
          <a:p>
            <a:pPr eaLnBrk="1" hangingPunct="1">
              <a:defRPr/>
            </a:pPr>
            <a:r>
              <a:rPr lang="en-US" sz="2000" dirty="0"/>
              <a:t>Dictionary is broadcast among workers</a:t>
            </a:r>
          </a:p>
          <a:p>
            <a:pPr eaLnBrk="1" hangingPunct="1">
              <a:defRPr/>
            </a:pPr>
            <a:r>
              <a:rPr lang="en-US" sz="2000" dirty="0"/>
              <a:t>To support workers-only broadcast, need workers-only communicator</a:t>
            </a:r>
          </a:p>
          <a:p>
            <a:pPr eaLnBrk="1" hangingPunct="1">
              <a:defRPr/>
            </a:pPr>
            <a:r>
              <a:rPr lang="en-US" sz="2000" dirty="0"/>
              <a:t>Can use </a:t>
            </a:r>
            <a:r>
              <a:rPr lang="en-US" sz="2000" dirty="0" err="1"/>
              <a:t>MPI_Comm_split</a:t>
            </a:r>
            <a:endParaRPr lang="en-US" sz="2000" dirty="0"/>
          </a:p>
          <a:p>
            <a:pPr eaLnBrk="1" hangingPunct="1">
              <a:defRPr/>
            </a:pPr>
            <a:r>
              <a:rPr lang="en-US" sz="2000" dirty="0"/>
              <a:t>Manager passes MPI_UNDEFINED as the value of </a:t>
            </a:r>
            <a:r>
              <a:rPr lang="en-US" sz="2000" dirty="0" err="1"/>
              <a:t>split_key</a:t>
            </a:r>
            <a:r>
              <a:rPr lang="en-US" sz="2000" dirty="0"/>
              <a:t>, meaning it will not be part of any new communicator</a:t>
            </a:r>
          </a:p>
        </p:txBody>
      </p:sp>
      <p:sp>
        <p:nvSpPr>
          <p:cNvPr id="2" name="Date Placeholder 1">
            <a:extLst>
              <a:ext uri="{FF2B5EF4-FFF2-40B4-BE49-F238E27FC236}">
                <a16:creationId xmlns:a16="http://schemas.microsoft.com/office/drawing/2014/main" id="{64AA0FAB-B013-B46F-8E4C-B8AA28420357}"/>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A7C7C13F-391E-09DE-B926-4C2F7508CCA0}"/>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C5DD18D-5A5E-76B4-8745-24FD168302D0}"/>
              </a:ext>
            </a:extLst>
          </p:cNvPr>
          <p:cNvSpPr>
            <a:spLocks noGrp="1"/>
          </p:cNvSpPr>
          <p:nvPr>
            <p:ph type="ftr" sz="quarter" idx="11"/>
          </p:nvPr>
        </p:nvSpPr>
        <p:spPr/>
        <p:txBody>
          <a:bodyPr/>
          <a:lstStyle/>
          <a:p>
            <a:pPr>
              <a:defRPr/>
            </a:pPr>
            <a:r>
              <a:rPr lang="en-US"/>
              <a:t>Principles of Programming Languages II</a:t>
            </a:r>
          </a:p>
        </p:txBody>
      </p:sp>
      <p:sp>
        <p:nvSpPr>
          <p:cNvPr id="5" name="Slide Number Placeholder 4">
            <a:extLst>
              <a:ext uri="{FF2B5EF4-FFF2-40B4-BE49-F238E27FC236}">
                <a16:creationId xmlns:a16="http://schemas.microsoft.com/office/drawing/2014/main" id="{1B08B2D4-AF12-9B2A-C11E-20F14F74911A}"/>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B27AE82C-0826-4DBE-8F7F-6421645938D4}" type="slidenum">
              <a:rPr lang="en-US" altLang="en-US" sz="1400" smtClean="0">
                <a:latin typeface="Arial" panose="020B0604020202020204" pitchFamily="34" charset="0"/>
              </a:rPr>
              <a:pPr>
                <a:spcBef>
                  <a:spcPct val="0"/>
                </a:spcBef>
                <a:buClrTx/>
                <a:buSzTx/>
                <a:buFontTx/>
                <a:buNone/>
                <a:defRPr/>
              </a:pPr>
              <a:t>17</a:t>
            </a:fld>
            <a:endParaRPr lang="en-US" altLang="en-US" sz="1400">
              <a:latin typeface="Arial" panose="020B0604020202020204" pitchFamily="34" charset="0"/>
            </a:endParaRPr>
          </a:p>
        </p:txBody>
      </p:sp>
      <p:sp>
        <p:nvSpPr>
          <p:cNvPr id="318466" name="Rectangle 2">
            <a:extLst>
              <a:ext uri="{FF2B5EF4-FFF2-40B4-BE49-F238E27FC236}">
                <a16:creationId xmlns:a16="http://schemas.microsoft.com/office/drawing/2014/main" id="{060ABB5E-53E4-6132-F60E-D28911A14CEE}"/>
              </a:ext>
            </a:extLst>
          </p:cNvPr>
          <p:cNvSpPr>
            <a:spLocks noGrp="1" noChangeArrowheads="1"/>
          </p:cNvSpPr>
          <p:nvPr>
            <p:ph type="title"/>
          </p:nvPr>
        </p:nvSpPr>
        <p:spPr>
          <a:xfrm>
            <a:off x="457200" y="0"/>
            <a:ext cx="8229600" cy="1143000"/>
          </a:xfrm>
        </p:spPr>
        <p:txBody>
          <a:bodyPr/>
          <a:lstStyle/>
          <a:p>
            <a:pPr eaLnBrk="1" hangingPunct="1">
              <a:defRPr/>
            </a:pPr>
            <a:r>
              <a:rPr lang="en-US" sz="3200" dirty="0"/>
              <a:t>Workers-only Communicator</a:t>
            </a:r>
          </a:p>
        </p:txBody>
      </p:sp>
      <p:sp>
        <p:nvSpPr>
          <p:cNvPr id="20485" name="Text Box 3">
            <a:extLst>
              <a:ext uri="{FF2B5EF4-FFF2-40B4-BE49-F238E27FC236}">
                <a16:creationId xmlns:a16="http://schemas.microsoft.com/office/drawing/2014/main" id="{506B9DDD-FC7D-ABDD-9A4E-DF9C63F226B8}"/>
              </a:ext>
            </a:extLst>
          </p:cNvPr>
          <p:cNvSpPr txBox="1">
            <a:spLocks noChangeArrowheads="1"/>
          </p:cNvSpPr>
          <p:nvPr/>
        </p:nvSpPr>
        <p:spPr bwMode="auto">
          <a:xfrm>
            <a:off x="1514856" y="1600200"/>
            <a:ext cx="6400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800" b="1" dirty="0">
                <a:latin typeface="Courier New" panose="02070309020205020404" pitchFamily="49" charset="0"/>
              </a:rPr>
              <a:t>Int id;</a:t>
            </a:r>
          </a:p>
          <a:p>
            <a:pPr eaLnBrk="1" hangingPunct="1">
              <a:spcBef>
                <a:spcPct val="0"/>
              </a:spcBef>
              <a:buClrTx/>
              <a:buSzTx/>
              <a:buFontTx/>
              <a:buNone/>
            </a:pPr>
            <a:r>
              <a:rPr lang="en-US" altLang="en-US" sz="1800" b="1" dirty="0" err="1">
                <a:latin typeface="Courier New" panose="02070309020205020404" pitchFamily="49" charset="0"/>
              </a:rPr>
              <a:t>MPI_Comm</a:t>
            </a:r>
            <a:r>
              <a:rPr lang="en-US" altLang="en-US" sz="1800" b="1" dirty="0">
                <a:latin typeface="Courier New" panose="02070309020205020404" pitchFamily="49" charset="0"/>
              </a:rPr>
              <a:t> </a:t>
            </a:r>
            <a:r>
              <a:rPr lang="en-US" altLang="en-US" sz="1800" b="1" dirty="0" err="1">
                <a:latin typeface="Courier New" panose="02070309020205020404" pitchFamily="49" charset="0"/>
              </a:rPr>
              <a:t>worker_comm</a:t>
            </a:r>
            <a:r>
              <a:rPr lang="en-US" altLang="en-US" sz="1800" b="1" dirty="0">
                <a:latin typeface="Courier New" panose="02070309020205020404" pitchFamily="49" charset="0"/>
              </a:rPr>
              <a:t>;</a:t>
            </a:r>
          </a:p>
          <a:p>
            <a:pPr eaLnBrk="1" hangingPunct="1">
              <a:spcBef>
                <a:spcPct val="0"/>
              </a:spcBef>
              <a:buClrTx/>
              <a:buSzTx/>
              <a:buFontTx/>
              <a:buNone/>
            </a:pPr>
            <a:endParaRPr lang="en-US" altLang="en-US" sz="1800" b="1" dirty="0">
              <a:latin typeface="Courier New" panose="02070309020205020404" pitchFamily="49" charset="0"/>
            </a:endParaRPr>
          </a:p>
          <a:p>
            <a:pPr eaLnBrk="1" hangingPunct="1">
              <a:spcBef>
                <a:spcPct val="0"/>
              </a:spcBef>
              <a:buClrTx/>
              <a:buSzTx/>
              <a:buFontTx/>
              <a:buNone/>
            </a:pPr>
            <a:r>
              <a:rPr lang="en-US" altLang="en-US" sz="1800" b="1" dirty="0">
                <a:latin typeface="Courier New" panose="02070309020205020404" pitchFamily="49" charset="0"/>
              </a:rPr>
              <a:t>...</a:t>
            </a:r>
          </a:p>
          <a:p>
            <a:pPr eaLnBrk="1" hangingPunct="1">
              <a:spcBef>
                <a:spcPct val="0"/>
              </a:spcBef>
              <a:buClrTx/>
              <a:buSzTx/>
              <a:buFontTx/>
              <a:buNone/>
            </a:pPr>
            <a:endParaRPr lang="en-US" altLang="en-US" sz="1800" b="1" dirty="0">
              <a:latin typeface="Courier New" panose="02070309020205020404" pitchFamily="49" charset="0"/>
            </a:endParaRPr>
          </a:p>
          <a:p>
            <a:pPr eaLnBrk="1" hangingPunct="1">
              <a:spcBef>
                <a:spcPct val="0"/>
              </a:spcBef>
              <a:buClrTx/>
              <a:buSzTx/>
              <a:buFontTx/>
              <a:buNone/>
            </a:pPr>
            <a:r>
              <a:rPr lang="en-US" altLang="en-US" sz="1800" b="1" dirty="0">
                <a:latin typeface="Courier New" panose="02070309020205020404" pitchFamily="49" charset="0"/>
              </a:rPr>
              <a:t>if (!id) /* Manager */</a:t>
            </a:r>
          </a:p>
          <a:p>
            <a:pPr eaLnBrk="1" hangingPunct="1">
              <a:spcBef>
                <a:spcPct val="0"/>
              </a:spcBef>
              <a:buClrTx/>
              <a:buSzTx/>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MPI_Comm_split</a:t>
            </a:r>
            <a:r>
              <a:rPr lang="en-US" altLang="en-US" sz="1800" b="1" dirty="0">
                <a:latin typeface="Courier New" panose="02070309020205020404" pitchFamily="49" charset="0"/>
              </a:rPr>
              <a:t> (MPI_COMM_WORLD,</a:t>
            </a:r>
          </a:p>
          <a:p>
            <a:pPr eaLnBrk="1" hangingPunct="1">
              <a:spcBef>
                <a:spcPct val="0"/>
              </a:spcBef>
              <a:buClrTx/>
              <a:buSzTx/>
              <a:buFontTx/>
              <a:buNone/>
            </a:pPr>
            <a:r>
              <a:rPr lang="en-US" altLang="en-US" sz="1800" b="1" dirty="0">
                <a:latin typeface="Courier New" panose="02070309020205020404" pitchFamily="49" charset="0"/>
              </a:rPr>
              <a:t>      MPI_UNDEFINED, id, &amp;</a:t>
            </a:r>
            <a:r>
              <a:rPr lang="en-US" altLang="en-US" sz="1800" b="1" dirty="0" err="1">
                <a:latin typeface="Courier New" panose="02070309020205020404" pitchFamily="49" charset="0"/>
              </a:rPr>
              <a:t>worker_comm</a:t>
            </a:r>
            <a:r>
              <a:rPr lang="en-US" altLang="en-US" sz="1800" b="1" dirty="0">
                <a:latin typeface="Courier New" panose="02070309020205020404" pitchFamily="49" charset="0"/>
              </a:rPr>
              <a:t>);</a:t>
            </a:r>
          </a:p>
          <a:p>
            <a:pPr eaLnBrk="1" hangingPunct="1">
              <a:spcBef>
                <a:spcPct val="0"/>
              </a:spcBef>
              <a:buClrTx/>
              <a:buSzTx/>
              <a:buFontTx/>
              <a:buNone/>
            </a:pPr>
            <a:endParaRPr lang="en-US" altLang="en-US" sz="1800" b="1" dirty="0">
              <a:latin typeface="Courier New" panose="02070309020205020404" pitchFamily="49" charset="0"/>
            </a:endParaRPr>
          </a:p>
          <a:p>
            <a:pPr eaLnBrk="1" hangingPunct="1">
              <a:spcBef>
                <a:spcPct val="0"/>
              </a:spcBef>
              <a:buClrTx/>
              <a:buSzTx/>
              <a:buFontTx/>
              <a:buNone/>
            </a:pPr>
            <a:r>
              <a:rPr lang="en-US" altLang="en-US" sz="1800" b="1" dirty="0">
                <a:latin typeface="Courier New" panose="02070309020205020404" pitchFamily="49" charset="0"/>
              </a:rPr>
              <a:t>else /* Worker */</a:t>
            </a:r>
          </a:p>
          <a:p>
            <a:pPr eaLnBrk="1" hangingPunct="1">
              <a:spcBef>
                <a:spcPct val="0"/>
              </a:spcBef>
              <a:buClrTx/>
              <a:buSzTx/>
              <a:buFontTx/>
              <a:buNone/>
            </a:pPr>
            <a:r>
              <a:rPr lang="en-US" altLang="en-US" sz="1800" b="1" dirty="0">
                <a:latin typeface="Courier New" panose="02070309020205020404" pitchFamily="49" charset="0"/>
              </a:rPr>
              <a:t>   </a:t>
            </a:r>
            <a:r>
              <a:rPr lang="en-US" altLang="en-US" sz="1800" b="1" dirty="0" err="1">
                <a:latin typeface="Courier New" panose="02070309020205020404" pitchFamily="49" charset="0"/>
              </a:rPr>
              <a:t>MPI_Comm_split</a:t>
            </a:r>
            <a:r>
              <a:rPr lang="en-US" altLang="en-US" sz="1800" b="1" dirty="0">
                <a:latin typeface="Courier New" panose="02070309020205020404" pitchFamily="49" charset="0"/>
              </a:rPr>
              <a:t> (MPI_COMM_WORLD, 0,</a:t>
            </a:r>
          </a:p>
          <a:p>
            <a:pPr eaLnBrk="1" hangingPunct="1">
              <a:spcBef>
                <a:spcPct val="0"/>
              </a:spcBef>
              <a:buClrTx/>
              <a:buSzTx/>
              <a:buFontTx/>
              <a:buNone/>
            </a:pPr>
            <a:r>
              <a:rPr lang="en-US" altLang="en-US" sz="1800" b="1" dirty="0">
                <a:latin typeface="Courier New" panose="02070309020205020404" pitchFamily="49" charset="0"/>
              </a:rPr>
              <a:t>      id, &amp;</a:t>
            </a:r>
            <a:r>
              <a:rPr lang="en-US" altLang="en-US" sz="1800" b="1" dirty="0" err="1">
                <a:latin typeface="Courier New" panose="02070309020205020404" pitchFamily="49" charset="0"/>
              </a:rPr>
              <a:t>worker_comm</a:t>
            </a:r>
            <a:r>
              <a:rPr lang="en-US" altLang="en-US" sz="1800" b="1" dirty="0">
                <a:latin typeface="Courier New" panose="02070309020205020404" pitchFamily="49" charset="0"/>
              </a:rPr>
              <a:t>);</a:t>
            </a:r>
            <a:endParaRPr lang="en-US" altLang="en-US" sz="2000" b="1" dirty="0">
              <a:latin typeface="Courier New" panose="02070309020205020404" pitchFamily="49" charset="0"/>
            </a:endParaRPr>
          </a:p>
        </p:txBody>
      </p:sp>
      <p:sp>
        <p:nvSpPr>
          <p:cNvPr id="2" name="Date Placeholder 1">
            <a:extLst>
              <a:ext uri="{FF2B5EF4-FFF2-40B4-BE49-F238E27FC236}">
                <a16:creationId xmlns:a16="http://schemas.microsoft.com/office/drawing/2014/main" id="{47CF9520-9544-6730-44D4-FCAC45E3E542}"/>
              </a:ext>
            </a:extLst>
          </p:cNvPr>
          <p:cNvSpPr>
            <a:spLocks noGrp="1"/>
          </p:cNvSpPr>
          <p:nvPr>
            <p:ph type="dt" sz="quarter" idx="10"/>
          </p:nvPr>
        </p:nvSpPr>
        <p:spPr/>
        <p:txBody>
          <a:bodyPr/>
          <a:lstStyle/>
          <a:p>
            <a:pPr>
              <a:defRPr/>
            </a:pPr>
            <a:r>
              <a:rPr lang="en-US"/>
              <a:t>CS 362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AEF63026-B9D9-C156-E6B7-23AD4748822A}"/>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C36EC2A2-495B-4788-BE94-D4C0B7A73282}" type="slidenum">
              <a:rPr lang="en-US" altLang="en-US" sz="1400" smtClean="0">
                <a:latin typeface="Arial" panose="020B0604020202020204" pitchFamily="34" charset="0"/>
              </a:rPr>
              <a:pPr>
                <a:spcBef>
                  <a:spcPct val="0"/>
                </a:spcBef>
                <a:buClrTx/>
                <a:buSzTx/>
                <a:buFontTx/>
                <a:buNone/>
                <a:defRPr/>
              </a:pPr>
              <a:t>18</a:t>
            </a:fld>
            <a:endParaRPr lang="en-US" altLang="en-US" sz="1400">
              <a:latin typeface="Arial" panose="020B0604020202020204" pitchFamily="34" charset="0"/>
            </a:endParaRPr>
          </a:p>
        </p:txBody>
      </p:sp>
      <p:sp>
        <p:nvSpPr>
          <p:cNvPr id="297986" name="Rectangle 2">
            <a:extLst>
              <a:ext uri="{FF2B5EF4-FFF2-40B4-BE49-F238E27FC236}">
                <a16:creationId xmlns:a16="http://schemas.microsoft.com/office/drawing/2014/main" id="{7624F151-5B25-A333-111A-03CF1927DFD2}"/>
              </a:ext>
            </a:extLst>
          </p:cNvPr>
          <p:cNvSpPr>
            <a:spLocks noGrp="1" noChangeArrowheads="1"/>
          </p:cNvSpPr>
          <p:nvPr>
            <p:ph type="title"/>
          </p:nvPr>
        </p:nvSpPr>
        <p:spPr>
          <a:xfrm>
            <a:off x="457200" y="152400"/>
            <a:ext cx="8229600" cy="1600200"/>
          </a:xfrm>
        </p:spPr>
        <p:txBody>
          <a:bodyPr/>
          <a:lstStyle/>
          <a:p>
            <a:pPr eaLnBrk="1" hangingPunct="1">
              <a:defRPr/>
            </a:pPr>
            <a:r>
              <a:rPr lang="en-US" sz="3200" dirty="0"/>
              <a:t>Nonblocking Send / Receive</a:t>
            </a:r>
            <a:br>
              <a:rPr lang="en-US" sz="3600" dirty="0"/>
            </a:br>
            <a:r>
              <a:rPr lang="en-US" sz="3600" dirty="0"/>
              <a:t> </a:t>
            </a:r>
            <a:r>
              <a:rPr lang="en-US" sz="2000" dirty="0" err="1"/>
              <a:t>MPI_Isend</a:t>
            </a:r>
            <a:r>
              <a:rPr lang="en-US" sz="2000" dirty="0"/>
              <a:t>, </a:t>
            </a:r>
            <a:r>
              <a:rPr lang="en-US" sz="2000" dirty="0" err="1"/>
              <a:t>MPI_Irecv</a:t>
            </a:r>
            <a:r>
              <a:rPr lang="en-US" sz="2000" dirty="0"/>
              <a:t>, </a:t>
            </a:r>
            <a:r>
              <a:rPr lang="en-US" sz="2000" dirty="0" err="1"/>
              <a:t>MPI_Wait</a:t>
            </a:r>
            <a:endParaRPr lang="en-US" sz="2000" dirty="0"/>
          </a:p>
        </p:txBody>
      </p:sp>
      <p:sp>
        <p:nvSpPr>
          <p:cNvPr id="297987" name="Rectangle 3">
            <a:extLst>
              <a:ext uri="{FF2B5EF4-FFF2-40B4-BE49-F238E27FC236}">
                <a16:creationId xmlns:a16="http://schemas.microsoft.com/office/drawing/2014/main" id="{6C701702-0443-B66D-D9CF-4028F82225BC}"/>
              </a:ext>
            </a:extLst>
          </p:cNvPr>
          <p:cNvSpPr>
            <a:spLocks noGrp="1" noChangeArrowheads="1"/>
          </p:cNvSpPr>
          <p:nvPr>
            <p:ph type="body" idx="1"/>
          </p:nvPr>
        </p:nvSpPr>
        <p:spPr>
          <a:xfrm>
            <a:off x="1710908" y="2209800"/>
            <a:ext cx="5886450" cy="3352800"/>
          </a:xfrm>
        </p:spPr>
        <p:txBody>
          <a:bodyPr/>
          <a:lstStyle/>
          <a:p>
            <a:pPr eaLnBrk="1" hangingPunct="1">
              <a:defRPr/>
            </a:pPr>
            <a:r>
              <a:rPr lang="en-US" sz="2000" dirty="0" err="1"/>
              <a:t>MPI_Isend</a:t>
            </a:r>
            <a:r>
              <a:rPr lang="en-US" sz="2000" dirty="0"/>
              <a:t>, </a:t>
            </a:r>
            <a:r>
              <a:rPr lang="en-US" sz="2000" dirty="0" err="1"/>
              <a:t>MPI_Irecv</a:t>
            </a:r>
            <a:r>
              <a:rPr lang="en-US" sz="2000" dirty="0"/>
              <a:t> initiate operation</a:t>
            </a:r>
          </a:p>
          <a:p>
            <a:pPr eaLnBrk="1" hangingPunct="1">
              <a:defRPr/>
            </a:pPr>
            <a:r>
              <a:rPr lang="en-US" sz="2000" dirty="0" err="1"/>
              <a:t>MPI_Wait</a:t>
            </a:r>
            <a:r>
              <a:rPr lang="en-US" sz="2000" dirty="0"/>
              <a:t> blocks until operation complete</a:t>
            </a:r>
          </a:p>
          <a:p>
            <a:pPr eaLnBrk="1" hangingPunct="1">
              <a:defRPr/>
            </a:pPr>
            <a:r>
              <a:rPr lang="en-US" sz="2000" dirty="0"/>
              <a:t>Calls can be made early</a:t>
            </a:r>
          </a:p>
          <a:p>
            <a:pPr lvl="1" eaLnBrk="1" hangingPunct="1">
              <a:defRPr/>
            </a:pPr>
            <a:r>
              <a:rPr lang="en-US" sz="1800" dirty="0" err="1"/>
              <a:t>MPI_Isend</a:t>
            </a:r>
            <a:r>
              <a:rPr lang="en-US" sz="1800" dirty="0"/>
              <a:t> as soon as value(s) assigned</a:t>
            </a:r>
          </a:p>
          <a:p>
            <a:pPr lvl="1" eaLnBrk="1" hangingPunct="1">
              <a:defRPr/>
            </a:pPr>
            <a:r>
              <a:rPr lang="en-US" sz="1800" dirty="0" err="1"/>
              <a:t>MPI_Irecv</a:t>
            </a:r>
            <a:r>
              <a:rPr lang="en-US" sz="1800" dirty="0"/>
              <a:t> as soon as buffer available</a:t>
            </a:r>
          </a:p>
          <a:p>
            <a:pPr eaLnBrk="1" hangingPunct="1">
              <a:defRPr/>
            </a:pPr>
            <a:r>
              <a:rPr lang="en-US" sz="2000" dirty="0"/>
              <a:t>Can eliminate a message copying step</a:t>
            </a:r>
          </a:p>
          <a:p>
            <a:pPr eaLnBrk="1" hangingPunct="1">
              <a:defRPr/>
            </a:pPr>
            <a:r>
              <a:rPr lang="en-US" sz="2000" dirty="0"/>
              <a:t>Allows communication / computation overlap</a:t>
            </a:r>
            <a:endParaRPr lang="en-US" sz="2800" dirty="0"/>
          </a:p>
        </p:txBody>
      </p:sp>
      <p:sp>
        <p:nvSpPr>
          <p:cNvPr id="2" name="Date Placeholder 1">
            <a:extLst>
              <a:ext uri="{FF2B5EF4-FFF2-40B4-BE49-F238E27FC236}">
                <a16:creationId xmlns:a16="http://schemas.microsoft.com/office/drawing/2014/main" id="{A17700BC-E8A8-E4CB-C4B3-B506E877BF70}"/>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E91A7D3E-3495-6307-7960-8AFFE84CB1B8}"/>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6544BD9-458D-D0A2-F4B6-9FF0E4AB49EE}"/>
              </a:ext>
            </a:extLst>
          </p:cNvPr>
          <p:cNvSpPr>
            <a:spLocks noGrp="1"/>
          </p:cNvSpPr>
          <p:nvPr>
            <p:ph type="sldNum" sz="quarter" idx="12"/>
          </p:nvPr>
        </p:nvSpPr>
        <p:spPr/>
        <p:txBody>
          <a:bodyPr/>
          <a:lstStyle/>
          <a:p>
            <a:pPr>
              <a:defRPr/>
            </a:pPr>
            <a:fld id="{CEEAFE09-EC20-41B3-8CA6-E782316EEE3A}" type="slidenum">
              <a:rPr lang="en-US" altLang="en-US" smtClean="0"/>
              <a:pPr>
                <a:defRPr/>
              </a:pPr>
              <a:t>19</a:t>
            </a:fld>
            <a:endParaRPr lang="en-US" altLang="en-US"/>
          </a:p>
        </p:txBody>
      </p:sp>
      <p:sp>
        <p:nvSpPr>
          <p:cNvPr id="22531" name="TextBox 2">
            <a:extLst>
              <a:ext uri="{FF2B5EF4-FFF2-40B4-BE49-F238E27FC236}">
                <a16:creationId xmlns:a16="http://schemas.microsoft.com/office/drawing/2014/main" id="{F09D7099-91D4-0CF4-BD9E-CB8433AEED79}"/>
              </a:ext>
            </a:extLst>
          </p:cNvPr>
          <p:cNvSpPr txBox="1">
            <a:spLocks noChangeArrowheads="1"/>
          </p:cNvSpPr>
          <p:nvPr/>
        </p:nvSpPr>
        <p:spPr bwMode="auto">
          <a:xfrm>
            <a:off x="4970463" y="503238"/>
            <a:ext cx="4113212"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400">
                <a:solidFill>
                  <a:srgbClr val="FFFF00"/>
                </a:solidFill>
              </a:rPr>
              <a:t>Each process sends its rank to the next process (simple ring communication).</a:t>
            </a:r>
          </a:p>
          <a:p>
            <a:pPr>
              <a:spcBef>
                <a:spcPct val="0"/>
              </a:spcBef>
              <a:buClrTx/>
              <a:buSzTx/>
              <a:buFontTx/>
              <a:buNone/>
            </a:pPr>
            <a:endParaRPr lang="en-US" altLang="en-US" sz="1400">
              <a:solidFill>
                <a:srgbClr val="FFFF00"/>
              </a:solidFill>
            </a:endParaRPr>
          </a:p>
          <a:p>
            <a:pPr>
              <a:spcBef>
                <a:spcPct val="0"/>
              </a:spcBef>
              <a:buClrTx/>
              <a:buSzTx/>
              <a:buFontTx/>
              <a:buNone/>
            </a:pPr>
            <a:r>
              <a:rPr lang="en-US" altLang="en-US" sz="1400">
                <a:solidFill>
                  <a:srgbClr val="FFFF00"/>
                </a:solidFill>
              </a:rPr>
              <a:t>MPI_Isend starts sending data but does not block execution.</a:t>
            </a:r>
          </a:p>
          <a:p>
            <a:pPr>
              <a:spcBef>
                <a:spcPct val="0"/>
              </a:spcBef>
              <a:buClrTx/>
              <a:buSzTx/>
              <a:buFontTx/>
              <a:buNone/>
            </a:pPr>
            <a:endParaRPr lang="en-US" altLang="en-US" sz="1400">
              <a:solidFill>
                <a:srgbClr val="FFFF00"/>
              </a:solidFill>
            </a:endParaRPr>
          </a:p>
          <a:p>
            <a:pPr>
              <a:spcBef>
                <a:spcPct val="0"/>
              </a:spcBef>
              <a:buClrTx/>
              <a:buSzTx/>
              <a:buFontTx/>
              <a:buNone/>
            </a:pPr>
            <a:r>
              <a:rPr lang="en-US" altLang="en-US" sz="1400">
                <a:solidFill>
                  <a:srgbClr val="FFFF00"/>
                </a:solidFill>
              </a:rPr>
              <a:t>MPI_Irecv starts receiving data asynchronously.</a:t>
            </a:r>
          </a:p>
          <a:p>
            <a:pPr>
              <a:spcBef>
                <a:spcPct val="0"/>
              </a:spcBef>
              <a:buClrTx/>
              <a:buSzTx/>
              <a:buFontTx/>
              <a:buNone/>
            </a:pPr>
            <a:endParaRPr lang="en-US" altLang="en-US" sz="1400">
              <a:solidFill>
                <a:srgbClr val="FFFF00"/>
              </a:solidFill>
            </a:endParaRPr>
          </a:p>
          <a:p>
            <a:pPr>
              <a:spcBef>
                <a:spcPct val="0"/>
              </a:spcBef>
              <a:buClrTx/>
              <a:buSzTx/>
              <a:buFontTx/>
              <a:buNone/>
            </a:pPr>
            <a:r>
              <a:rPr lang="en-US" altLang="en-US" sz="1400">
                <a:solidFill>
                  <a:srgbClr val="FFFF00"/>
                </a:solidFill>
              </a:rPr>
              <a:t>MPI_Wait ensures that both operations complete before moving forward.</a:t>
            </a:r>
          </a:p>
        </p:txBody>
      </p:sp>
      <p:sp>
        <p:nvSpPr>
          <p:cNvPr id="22532" name="TextBox 11">
            <a:extLst>
              <a:ext uri="{FF2B5EF4-FFF2-40B4-BE49-F238E27FC236}">
                <a16:creationId xmlns:a16="http://schemas.microsoft.com/office/drawing/2014/main" id="{DC0F3428-8C88-D922-C228-FDD5C02761BC}"/>
              </a:ext>
            </a:extLst>
          </p:cNvPr>
          <p:cNvSpPr txBox="1">
            <a:spLocks noChangeArrowheads="1"/>
          </p:cNvSpPr>
          <p:nvPr/>
        </p:nvSpPr>
        <p:spPr bwMode="auto">
          <a:xfrm>
            <a:off x="2209800" y="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800"/>
              <a:t>Example: Non-blocking Send and Receive</a:t>
            </a:r>
          </a:p>
        </p:txBody>
      </p:sp>
      <p:pic>
        <p:nvPicPr>
          <p:cNvPr id="22533" name="Picture 13">
            <a:extLst>
              <a:ext uri="{FF2B5EF4-FFF2-40B4-BE49-F238E27FC236}">
                <a16:creationId xmlns:a16="http://schemas.microsoft.com/office/drawing/2014/main" id="{FECA9EFC-1289-09AB-A94E-A03D23F71F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5" y="441325"/>
            <a:ext cx="4810125" cy="638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Box 15">
            <a:extLst>
              <a:ext uri="{FF2B5EF4-FFF2-40B4-BE49-F238E27FC236}">
                <a16:creationId xmlns:a16="http://schemas.microsoft.com/office/drawing/2014/main" id="{A2199B25-5718-8720-A3A0-E2ECEB47AF0A}"/>
              </a:ext>
            </a:extLst>
          </p:cNvPr>
          <p:cNvSpPr txBox="1">
            <a:spLocks noChangeArrowheads="1"/>
          </p:cNvSpPr>
          <p:nvPr/>
        </p:nvSpPr>
        <p:spPr bwMode="auto">
          <a:xfrm>
            <a:off x="5257800" y="3805238"/>
            <a:ext cx="4572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a:t>If running with 4 processes, the output could be:</a:t>
            </a:r>
          </a:p>
        </p:txBody>
      </p:sp>
      <p:sp>
        <p:nvSpPr>
          <p:cNvPr id="22535" name="TextBox 17">
            <a:extLst>
              <a:ext uri="{FF2B5EF4-FFF2-40B4-BE49-F238E27FC236}">
                <a16:creationId xmlns:a16="http://schemas.microsoft.com/office/drawing/2014/main" id="{62CCC898-95B8-A3F8-58B8-3DEF43D73635}"/>
              </a:ext>
            </a:extLst>
          </p:cNvPr>
          <p:cNvSpPr txBox="1">
            <a:spLocks noChangeArrowheads="1"/>
          </p:cNvSpPr>
          <p:nvPr/>
        </p:nvSpPr>
        <p:spPr bwMode="auto">
          <a:xfrm>
            <a:off x="5791200" y="4343400"/>
            <a:ext cx="4802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a:t>Process 0 sent 0 and received 3</a:t>
            </a:r>
          </a:p>
          <a:p>
            <a:pPr>
              <a:spcBef>
                <a:spcPct val="0"/>
              </a:spcBef>
              <a:buClrTx/>
              <a:buSzTx/>
              <a:buFontTx/>
              <a:buNone/>
            </a:pPr>
            <a:r>
              <a:rPr lang="en-US" altLang="en-US" sz="1200"/>
              <a:t>Process 1 sent 1 and received 0</a:t>
            </a:r>
          </a:p>
          <a:p>
            <a:pPr>
              <a:spcBef>
                <a:spcPct val="0"/>
              </a:spcBef>
              <a:buClrTx/>
              <a:buSzTx/>
              <a:buFontTx/>
              <a:buNone/>
            </a:pPr>
            <a:r>
              <a:rPr lang="en-US" altLang="en-US" sz="1200"/>
              <a:t>Process 2 sent 2 and received 1</a:t>
            </a:r>
          </a:p>
          <a:p>
            <a:pPr>
              <a:spcBef>
                <a:spcPct val="0"/>
              </a:spcBef>
              <a:buClrTx/>
              <a:buSzTx/>
              <a:buFontTx/>
              <a:buNone/>
            </a:pPr>
            <a:r>
              <a:rPr lang="en-US" altLang="en-US" sz="1200"/>
              <a:t>Process 3 sent 3 and received 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4EE14206-C0AA-A8CD-341E-4E1A29AEBC03}"/>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013B1E3E-5DEE-4B21-B423-EE584AB3199B}" type="slidenum">
              <a:rPr lang="en-US" altLang="en-US" sz="1400" smtClean="0">
                <a:latin typeface="Arial" panose="020B0604020202020204" pitchFamily="34" charset="0"/>
              </a:rPr>
              <a:pPr>
                <a:spcBef>
                  <a:spcPct val="0"/>
                </a:spcBef>
                <a:buClrTx/>
                <a:buSzTx/>
                <a:buFontTx/>
                <a:buNone/>
                <a:defRPr/>
              </a:pPr>
              <a:t>20</a:t>
            </a:fld>
            <a:endParaRPr lang="en-US" altLang="en-US" sz="1400">
              <a:latin typeface="Arial" panose="020B0604020202020204" pitchFamily="34" charset="0"/>
            </a:endParaRPr>
          </a:p>
        </p:txBody>
      </p:sp>
      <p:sp>
        <p:nvSpPr>
          <p:cNvPr id="302082" name="Rectangle 2">
            <a:extLst>
              <a:ext uri="{FF2B5EF4-FFF2-40B4-BE49-F238E27FC236}">
                <a16:creationId xmlns:a16="http://schemas.microsoft.com/office/drawing/2014/main" id="{CDD19E8C-3449-14AF-A21D-81DB42F741FE}"/>
              </a:ext>
            </a:extLst>
          </p:cNvPr>
          <p:cNvSpPr>
            <a:spLocks noGrp="1" noChangeArrowheads="1"/>
          </p:cNvSpPr>
          <p:nvPr>
            <p:ph type="title"/>
          </p:nvPr>
        </p:nvSpPr>
        <p:spPr>
          <a:xfrm>
            <a:off x="304800" y="152400"/>
            <a:ext cx="8610600" cy="1371600"/>
          </a:xfrm>
        </p:spPr>
        <p:txBody>
          <a:bodyPr/>
          <a:lstStyle/>
          <a:p>
            <a:pPr eaLnBrk="1" hangingPunct="1">
              <a:defRPr/>
            </a:pPr>
            <a:r>
              <a:rPr lang="en-US" sz="2800" dirty="0"/>
              <a:t>Receiving Path Name from manager </a:t>
            </a:r>
            <a:r>
              <a:rPr lang="en-US" sz="1800" dirty="0" err="1"/>
              <a:t>MPI_Probe</a:t>
            </a:r>
            <a:r>
              <a:rPr lang="en-US" sz="1800" dirty="0"/>
              <a:t>, </a:t>
            </a:r>
            <a:r>
              <a:rPr lang="en-US" sz="1800" dirty="0" err="1"/>
              <a:t>MPI_Get_count</a:t>
            </a:r>
            <a:endParaRPr lang="en-US" sz="1800" dirty="0"/>
          </a:p>
        </p:txBody>
      </p:sp>
      <p:sp>
        <p:nvSpPr>
          <p:cNvPr id="302083" name="Rectangle 3">
            <a:extLst>
              <a:ext uri="{FF2B5EF4-FFF2-40B4-BE49-F238E27FC236}">
                <a16:creationId xmlns:a16="http://schemas.microsoft.com/office/drawing/2014/main" id="{05BAF8C9-F7C3-2AED-795D-7A5A96791504}"/>
              </a:ext>
            </a:extLst>
          </p:cNvPr>
          <p:cNvSpPr>
            <a:spLocks noGrp="1" noChangeArrowheads="1"/>
          </p:cNvSpPr>
          <p:nvPr>
            <p:ph type="body" idx="1"/>
          </p:nvPr>
        </p:nvSpPr>
        <p:spPr>
          <a:xfrm>
            <a:off x="838200" y="2247900"/>
            <a:ext cx="7747000" cy="2362200"/>
          </a:xfrm>
        </p:spPr>
        <p:txBody>
          <a:bodyPr/>
          <a:lstStyle/>
          <a:p>
            <a:pPr eaLnBrk="1" hangingPunct="1">
              <a:defRPr/>
            </a:pPr>
            <a:r>
              <a:rPr lang="en-US" sz="2000" dirty="0"/>
              <a:t>Worker does not know length of longest path name it will receive</a:t>
            </a:r>
          </a:p>
          <a:p>
            <a:pPr eaLnBrk="1" hangingPunct="1">
              <a:defRPr/>
            </a:pPr>
            <a:r>
              <a:rPr lang="en-US" sz="2000" dirty="0"/>
              <a:t>Alternatives</a:t>
            </a:r>
          </a:p>
          <a:p>
            <a:pPr lvl="1" eaLnBrk="1" hangingPunct="1">
              <a:defRPr/>
            </a:pPr>
            <a:r>
              <a:rPr lang="en-US" sz="1800" dirty="0"/>
              <a:t>Allocate huge buffer</a:t>
            </a:r>
          </a:p>
          <a:p>
            <a:pPr lvl="1" eaLnBrk="1" hangingPunct="1">
              <a:defRPr/>
            </a:pPr>
            <a:r>
              <a:rPr lang="en-US" sz="1800" dirty="0"/>
              <a:t>Check length of incoming message, then allocate buffer (MPI_Probe, </a:t>
            </a:r>
            <a:r>
              <a:rPr lang="en-US" sz="1800" dirty="0" err="1"/>
              <a:t>MPI_Get_count</a:t>
            </a:r>
            <a:r>
              <a:rPr lang="en-US" sz="1800" dirty="0"/>
              <a:t>)</a:t>
            </a:r>
          </a:p>
          <a:p>
            <a:pPr eaLnBrk="1" hangingPunct="1">
              <a:defRPr/>
            </a:pPr>
            <a:r>
              <a:rPr lang="en-US" sz="2000" dirty="0"/>
              <a:t>We’ll take the second alternative (check length)</a:t>
            </a:r>
            <a:endParaRPr lang="en-US" sz="2400" dirty="0"/>
          </a:p>
        </p:txBody>
      </p:sp>
      <p:sp>
        <p:nvSpPr>
          <p:cNvPr id="2" name="Date Placeholder 1">
            <a:extLst>
              <a:ext uri="{FF2B5EF4-FFF2-40B4-BE49-F238E27FC236}">
                <a16:creationId xmlns:a16="http://schemas.microsoft.com/office/drawing/2014/main" id="{4D9BACF6-3B0C-DE58-13AF-C57E0594B7C9}"/>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2196F617-E2B5-DB48-C2C2-4BC7F33D1E90}"/>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7EABFF9-ED05-7108-ED95-01F94D320E95}"/>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F81ECCA3-4EE1-4C60-8116-5D9A47702112}" type="slidenum">
              <a:rPr lang="en-US" altLang="en-US" sz="1400" smtClean="0">
                <a:latin typeface="Arial" panose="020B0604020202020204" pitchFamily="34" charset="0"/>
              </a:rPr>
              <a:pPr>
                <a:spcBef>
                  <a:spcPct val="0"/>
                </a:spcBef>
                <a:buClrTx/>
                <a:buSzTx/>
                <a:buFontTx/>
                <a:buNone/>
                <a:defRPr/>
              </a:pPr>
              <a:t>21</a:t>
            </a:fld>
            <a:endParaRPr lang="en-US" altLang="en-US" sz="1400">
              <a:latin typeface="Arial" panose="020B0604020202020204" pitchFamily="34" charset="0"/>
            </a:endParaRPr>
          </a:p>
        </p:txBody>
      </p:sp>
      <p:sp>
        <p:nvSpPr>
          <p:cNvPr id="303106" name="Rectangle 2">
            <a:extLst>
              <a:ext uri="{FF2B5EF4-FFF2-40B4-BE49-F238E27FC236}">
                <a16:creationId xmlns:a16="http://schemas.microsoft.com/office/drawing/2014/main" id="{7FF496E3-F352-3C53-752B-ACF1E2E613A3}"/>
              </a:ext>
            </a:extLst>
          </p:cNvPr>
          <p:cNvSpPr>
            <a:spLocks noGrp="1" noChangeArrowheads="1"/>
          </p:cNvSpPr>
          <p:nvPr>
            <p:ph type="title"/>
          </p:nvPr>
        </p:nvSpPr>
        <p:spPr>
          <a:xfrm>
            <a:off x="457200" y="71438"/>
            <a:ext cx="8229600" cy="1752600"/>
          </a:xfrm>
        </p:spPr>
        <p:txBody>
          <a:bodyPr/>
          <a:lstStyle/>
          <a:p>
            <a:pPr eaLnBrk="1" hangingPunct="1">
              <a:defRPr/>
            </a:pPr>
            <a:r>
              <a:rPr lang="en-US" sz="3200" dirty="0"/>
              <a:t>Function MPI_Probe</a:t>
            </a:r>
            <a:br>
              <a:rPr lang="en-US" sz="4000" dirty="0"/>
            </a:br>
            <a:r>
              <a:rPr lang="en-US" sz="1600" dirty="0"/>
              <a:t>allows a process to check for incoming messages without actually receiving them. It provides information about a pending message, such as its source, tag, and size, so the receiving process can allocate the appropriate amount of buffer space before calling </a:t>
            </a:r>
            <a:r>
              <a:rPr lang="en-US" sz="1600" dirty="0" err="1"/>
              <a:t>MPI_Recv</a:t>
            </a:r>
            <a:endParaRPr lang="en-US" sz="2400" dirty="0"/>
          </a:p>
        </p:txBody>
      </p:sp>
      <p:sp>
        <p:nvSpPr>
          <p:cNvPr id="24580" name="Text Box 4">
            <a:extLst>
              <a:ext uri="{FF2B5EF4-FFF2-40B4-BE49-F238E27FC236}">
                <a16:creationId xmlns:a16="http://schemas.microsoft.com/office/drawing/2014/main" id="{8698CB67-B080-63B7-FAC2-667E8EE831F7}"/>
              </a:ext>
            </a:extLst>
          </p:cNvPr>
          <p:cNvSpPr txBox="1">
            <a:spLocks noChangeArrowheads="1"/>
          </p:cNvSpPr>
          <p:nvPr/>
        </p:nvSpPr>
        <p:spPr bwMode="auto">
          <a:xfrm>
            <a:off x="1987550" y="2895600"/>
            <a:ext cx="45656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000" b="1" dirty="0">
                <a:latin typeface="Courier New" panose="02070309020205020404" pitchFamily="49" charset="0"/>
              </a:rPr>
              <a:t>int MPI_Probe (</a:t>
            </a:r>
          </a:p>
          <a:p>
            <a:pPr eaLnBrk="1" hangingPunct="1">
              <a:spcBef>
                <a:spcPct val="0"/>
              </a:spcBef>
              <a:buClrTx/>
              <a:buSzTx/>
              <a:buFontTx/>
              <a:buNone/>
            </a:pPr>
            <a:r>
              <a:rPr lang="en-US" altLang="en-US" sz="2000" b="1" dirty="0">
                <a:latin typeface="Courier New" panose="02070309020205020404" pitchFamily="49" charset="0"/>
              </a:rPr>
              <a:t>      int         </a:t>
            </a:r>
            <a:r>
              <a:rPr lang="en-US" altLang="en-US" sz="2000" b="1" dirty="0" err="1">
                <a:latin typeface="Courier New" panose="02070309020205020404" pitchFamily="49" charset="0"/>
              </a:rPr>
              <a:t>src</a:t>
            </a:r>
            <a:r>
              <a:rPr lang="en-US" altLang="en-US" sz="2000" b="1" dirty="0">
                <a:latin typeface="Courier New" panose="02070309020205020404" pitchFamily="49" charset="0"/>
              </a:rPr>
              <a:t>,</a:t>
            </a:r>
          </a:p>
          <a:p>
            <a:pPr eaLnBrk="1" hangingPunct="1">
              <a:spcBef>
                <a:spcPct val="0"/>
              </a:spcBef>
              <a:buClrTx/>
              <a:buSzTx/>
              <a:buFontTx/>
              <a:buNone/>
            </a:pPr>
            <a:r>
              <a:rPr lang="en-US" altLang="en-US" sz="2000" b="1" dirty="0">
                <a:latin typeface="Courier New" panose="02070309020205020404" pitchFamily="49" charset="0"/>
              </a:rPr>
              <a:t>      int         tag,</a:t>
            </a:r>
          </a:p>
          <a:p>
            <a:pPr eaLnBrk="1" hangingPunct="1">
              <a:spcBef>
                <a:spcPct val="0"/>
              </a:spcBef>
              <a:buClrTx/>
              <a:buSzTx/>
              <a:buFontTx/>
              <a:buNone/>
            </a:pPr>
            <a:r>
              <a:rPr lang="en-US" altLang="en-US" sz="2000" b="1" dirty="0">
                <a:latin typeface="Courier New" panose="02070309020205020404" pitchFamily="49" charset="0"/>
              </a:rPr>
              <a:t>      </a:t>
            </a:r>
            <a:r>
              <a:rPr lang="en-US" altLang="en-US" sz="2000" b="1" dirty="0" err="1">
                <a:latin typeface="Courier New" panose="02070309020205020404" pitchFamily="49" charset="0"/>
              </a:rPr>
              <a:t>MPI_Comm</a:t>
            </a:r>
            <a:r>
              <a:rPr lang="en-US" altLang="en-US" sz="2000" b="1" dirty="0">
                <a:latin typeface="Courier New" panose="02070309020205020404" pitchFamily="49" charset="0"/>
              </a:rPr>
              <a:t>    comm,</a:t>
            </a:r>
          </a:p>
          <a:p>
            <a:pPr eaLnBrk="1" hangingPunct="1">
              <a:spcBef>
                <a:spcPct val="0"/>
              </a:spcBef>
              <a:buClrTx/>
              <a:buSzTx/>
              <a:buFontTx/>
              <a:buNone/>
            </a:pPr>
            <a:r>
              <a:rPr lang="en-US" altLang="en-US" sz="2000" b="1" dirty="0">
                <a:latin typeface="Courier New" panose="02070309020205020404" pitchFamily="49" charset="0"/>
              </a:rPr>
              <a:t>      </a:t>
            </a:r>
            <a:r>
              <a:rPr lang="en-US" altLang="en-US" sz="2000" b="1" dirty="0" err="1">
                <a:latin typeface="Courier New" panose="02070309020205020404" pitchFamily="49" charset="0"/>
              </a:rPr>
              <a:t>MPI_Status</a:t>
            </a:r>
            <a:r>
              <a:rPr lang="en-US" altLang="en-US" sz="2000" b="1" dirty="0">
                <a:latin typeface="Courier New" panose="02070309020205020404" pitchFamily="49" charset="0"/>
              </a:rPr>
              <a:t> *status</a:t>
            </a:r>
          </a:p>
          <a:p>
            <a:pPr eaLnBrk="1" hangingPunct="1">
              <a:spcBef>
                <a:spcPct val="0"/>
              </a:spcBef>
              <a:buClrTx/>
              <a:buSzTx/>
              <a:buFontTx/>
              <a:buNone/>
            </a:pPr>
            <a:r>
              <a:rPr lang="en-US" altLang="en-US" sz="2000" b="1" dirty="0">
                <a:latin typeface="Courier New" panose="02070309020205020404" pitchFamily="49" charset="0"/>
              </a:rPr>
              <a:t>)</a:t>
            </a:r>
          </a:p>
        </p:txBody>
      </p:sp>
      <p:sp>
        <p:nvSpPr>
          <p:cNvPr id="2" name="Date Placeholder 1">
            <a:extLst>
              <a:ext uri="{FF2B5EF4-FFF2-40B4-BE49-F238E27FC236}">
                <a16:creationId xmlns:a16="http://schemas.microsoft.com/office/drawing/2014/main" id="{83D4A80A-56BB-A298-A747-06DABD2315E9}"/>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362FF3C8-3B1F-775F-171D-72C2E1BFA033}"/>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BD265FB7-739C-A4CE-FBB6-5D1E51CB91A0}"/>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49B77757-2629-4B19-946C-534487E2FAA5}" type="slidenum">
              <a:rPr lang="en-US" altLang="en-US" sz="1400" smtClean="0">
                <a:latin typeface="Arial" panose="020B0604020202020204" pitchFamily="34" charset="0"/>
              </a:rPr>
              <a:pPr>
                <a:spcBef>
                  <a:spcPct val="0"/>
                </a:spcBef>
                <a:buClrTx/>
                <a:buSzTx/>
                <a:buFontTx/>
                <a:buNone/>
                <a:defRPr/>
              </a:pPr>
              <a:t>22</a:t>
            </a:fld>
            <a:endParaRPr lang="en-US" altLang="en-US" sz="1400">
              <a:latin typeface="Arial" panose="020B0604020202020204" pitchFamily="34" charset="0"/>
            </a:endParaRPr>
          </a:p>
        </p:txBody>
      </p:sp>
      <p:sp>
        <p:nvSpPr>
          <p:cNvPr id="304130" name="Rectangle 2">
            <a:extLst>
              <a:ext uri="{FF2B5EF4-FFF2-40B4-BE49-F238E27FC236}">
                <a16:creationId xmlns:a16="http://schemas.microsoft.com/office/drawing/2014/main" id="{DAD5D885-1657-0B1F-4B46-13F7742B3925}"/>
              </a:ext>
            </a:extLst>
          </p:cNvPr>
          <p:cNvSpPr>
            <a:spLocks noGrp="1" noChangeArrowheads="1"/>
          </p:cNvSpPr>
          <p:nvPr>
            <p:ph type="title"/>
          </p:nvPr>
        </p:nvSpPr>
        <p:spPr>
          <a:xfrm>
            <a:off x="457200" y="31750"/>
            <a:ext cx="8229600" cy="1524000"/>
          </a:xfrm>
        </p:spPr>
        <p:txBody>
          <a:bodyPr/>
          <a:lstStyle/>
          <a:p>
            <a:pPr eaLnBrk="1" hangingPunct="1">
              <a:defRPr/>
            </a:pPr>
            <a:r>
              <a:rPr lang="en-US" sz="3600" dirty="0"/>
              <a:t>Function </a:t>
            </a:r>
            <a:r>
              <a:rPr lang="en-US" sz="3600" dirty="0" err="1"/>
              <a:t>MPI_Get_count</a:t>
            </a:r>
            <a:br>
              <a:rPr lang="en-US" sz="4000" dirty="0"/>
            </a:br>
            <a:r>
              <a:rPr lang="en-US" sz="1600" dirty="0"/>
              <a:t>determines the number of elements received in a message. It works in conjunction with MPI_Probe or </a:t>
            </a:r>
            <a:r>
              <a:rPr lang="en-US" sz="1600" dirty="0" err="1"/>
              <a:t>MPI_Recv</a:t>
            </a:r>
            <a:r>
              <a:rPr lang="en-US" sz="1600" dirty="0"/>
              <a:t> to check how many elements of a particular datatype were sent, helping allocate memory dynamically when message sizes are unknown</a:t>
            </a:r>
            <a:endParaRPr lang="en-US" sz="4000" dirty="0"/>
          </a:p>
        </p:txBody>
      </p:sp>
      <p:sp>
        <p:nvSpPr>
          <p:cNvPr id="25604" name="Text Box 3">
            <a:extLst>
              <a:ext uri="{FF2B5EF4-FFF2-40B4-BE49-F238E27FC236}">
                <a16:creationId xmlns:a16="http://schemas.microsoft.com/office/drawing/2014/main" id="{A50173EA-CB6F-9FAC-AE32-A7299D3DD847}"/>
              </a:ext>
            </a:extLst>
          </p:cNvPr>
          <p:cNvSpPr txBox="1">
            <a:spLocks noChangeArrowheads="1"/>
          </p:cNvSpPr>
          <p:nvPr/>
        </p:nvSpPr>
        <p:spPr bwMode="auto">
          <a:xfrm>
            <a:off x="2286000" y="2743200"/>
            <a:ext cx="387798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2000" b="1" dirty="0">
                <a:latin typeface="Courier New" panose="02070309020205020404" pitchFamily="49" charset="0"/>
              </a:rPr>
              <a:t>int </a:t>
            </a:r>
            <a:r>
              <a:rPr lang="en-US" altLang="en-US" sz="2000" b="1" dirty="0" err="1">
                <a:latin typeface="Courier New" panose="02070309020205020404" pitchFamily="49" charset="0"/>
              </a:rPr>
              <a:t>MPI_Get_count</a:t>
            </a:r>
            <a:r>
              <a:rPr lang="en-US" altLang="en-US" sz="2000" b="1" dirty="0">
                <a:latin typeface="Courier New" panose="02070309020205020404" pitchFamily="49" charset="0"/>
              </a:rPr>
              <a:t> (</a:t>
            </a:r>
          </a:p>
          <a:p>
            <a:pPr eaLnBrk="1" hangingPunct="1">
              <a:spcBef>
                <a:spcPct val="0"/>
              </a:spcBef>
              <a:buClrTx/>
              <a:buSzTx/>
              <a:buFontTx/>
              <a:buNone/>
            </a:pPr>
            <a:r>
              <a:rPr lang="en-US" altLang="en-US" sz="2000" b="1" dirty="0">
                <a:latin typeface="Courier New" panose="02070309020205020404" pitchFamily="49" charset="0"/>
              </a:rPr>
              <a:t>     </a:t>
            </a:r>
            <a:r>
              <a:rPr lang="en-US" altLang="en-US" sz="2000" b="1" dirty="0" err="1">
                <a:latin typeface="Courier New" panose="02070309020205020404" pitchFamily="49" charset="0"/>
              </a:rPr>
              <a:t>MPI_Status</a:t>
            </a:r>
            <a:r>
              <a:rPr lang="en-US" altLang="en-US" sz="2000" b="1" dirty="0">
                <a:latin typeface="Courier New" panose="02070309020205020404" pitchFamily="49" charset="0"/>
              </a:rPr>
              <a:t> *status,</a:t>
            </a:r>
          </a:p>
          <a:p>
            <a:pPr eaLnBrk="1" hangingPunct="1">
              <a:spcBef>
                <a:spcPct val="0"/>
              </a:spcBef>
              <a:buClrTx/>
              <a:buSzTx/>
              <a:buFontTx/>
              <a:buNone/>
            </a:pPr>
            <a:r>
              <a:rPr lang="en-US" altLang="en-US" sz="2000" b="1" dirty="0">
                <a:latin typeface="Courier New" panose="02070309020205020404" pitchFamily="49" charset="0"/>
              </a:rPr>
              <a:t>     </a:t>
            </a:r>
            <a:r>
              <a:rPr lang="en-US" altLang="en-US" sz="2000" b="1" dirty="0" err="1">
                <a:latin typeface="Courier New" panose="02070309020205020404" pitchFamily="49" charset="0"/>
              </a:rPr>
              <a:t>MPI_Datatype</a:t>
            </a:r>
            <a:r>
              <a:rPr lang="en-US" altLang="en-US" sz="2000" b="1" dirty="0">
                <a:latin typeface="Courier New" panose="02070309020205020404" pitchFamily="49" charset="0"/>
              </a:rPr>
              <a:t> </a:t>
            </a:r>
            <a:r>
              <a:rPr lang="en-US" altLang="en-US" sz="2000" b="1" dirty="0" err="1">
                <a:latin typeface="Courier New" panose="02070309020205020404" pitchFamily="49" charset="0"/>
              </a:rPr>
              <a:t>dtype</a:t>
            </a:r>
            <a:r>
              <a:rPr lang="en-US" altLang="en-US" sz="2000" b="1" dirty="0">
                <a:latin typeface="Courier New" panose="02070309020205020404" pitchFamily="49" charset="0"/>
              </a:rPr>
              <a:t>,</a:t>
            </a:r>
          </a:p>
          <a:p>
            <a:pPr eaLnBrk="1" hangingPunct="1">
              <a:spcBef>
                <a:spcPct val="0"/>
              </a:spcBef>
              <a:buClrTx/>
              <a:buSzTx/>
              <a:buFontTx/>
              <a:buNone/>
            </a:pPr>
            <a:r>
              <a:rPr lang="en-US" altLang="en-US" sz="2000" b="1" dirty="0">
                <a:latin typeface="Courier New" panose="02070309020205020404" pitchFamily="49" charset="0"/>
              </a:rPr>
              <a:t>     int *</a:t>
            </a:r>
            <a:r>
              <a:rPr lang="en-US" altLang="en-US" sz="2000" b="1" dirty="0" err="1">
                <a:latin typeface="Courier New" panose="02070309020205020404" pitchFamily="49" charset="0"/>
              </a:rPr>
              <a:t>cnt</a:t>
            </a:r>
            <a:endParaRPr lang="en-US" altLang="en-US" sz="2000" b="1" dirty="0">
              <a:latin typeface="Courier New" panose="02070309020205020404" pitchFamily="49" charset="0"/>
            </a:endParaRPr>
          </a:p>
          <a:p>
            <a:pPr eaLnBrk="1" hangingPunct="1">
              <a:spcBef>
                <a:spcPct val="0"/>
              </a:spcBef>
              <a:buClrTx/>
              <a:buSzTx/>
              <a:buFontTx/>
              <a:buNone/>
            </a:pPr>
            <a:r>
              <a:rPr lang="en-US" altLang="en-US" sz="2000" b="1" dirty="0">
                <a:latin typeface="Courier New" panose="02070309020205020404" pitchFamily="49" charset="0"/>
              </a:rPr>
              <a:t>)</a:t>
            </a:r>
          </a:p>
        </p:txBody>
      </p:sp>
      <p:sp>
        <p:nvSpPr>
          <p:cNvPr id="2" name="Date Placeholder 1">
            <a:extLst>
              <a:ext uri="{FF2B5EF4-FFF2-40B4-BE49-F238E27FC236}">
                <a16:creationId xmlns:a16="http://schemas.microsoft.com/office/drawing/2014/main" id="{0A0B3846-3D0D-D938-04AA-9CDA38D65C55}"/>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7DD5A335-22C7-6075-1563-4A6FA6C1A3C9}"/>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88FB98B-D528-1354-8B2F-CEC54370E310}"/>
              </a:ext>
            </a:extLst>
          </p:cNvPr>
          <p:cNvSpPr>
            <a:spLocks noGrp="1"/>
          </p:cNvSpPr>
          <p:nvPr>
            <p:ph type="dt" sz="quarter" idx="10"/>
          </p:nvPr>
        </p:nvSpPr>
        <p:spPr/>
        <p:txBody>
          <a:bodyPr/>
          <a:lstStyle/>
          <a:p>
            <a:pPr>
              <a:defRPr/>
            </a:pPr>
            <a:r>
              <a:rPr lang="en-US"/>
              <a:t>CS 362</a:t>
            </a:r>
          </a:p>
        </p:txBody>
      </p:sp>
      <p:sp>
        <p:nvSpPr>
          <p:cNvPr id="6" name="Slide Number Placeholder 5">
            <a:extLst>
              <a:ext uri="{FF2B5EF4-FFF2-40B4-BE49-F238E27FC236}">
                <a16:creationId xmlns:a16="http://schemas.microsoft.com/office/drawing/2014/main" id="{09B48CD3-1E3F-02F6-3239-CE703B0F4EF5}"/>
              </a:ext>
            </a:extLst>
          </p:cNvPr>
          <p:cNvSpPr>
            <a:spLocks noGrp="1"/>
          </p:cNvSpPr>
          <p:nvPr>
            <p:ph type="sldNum" sz="quarter" idx="12"/>
          </p:nvPr>
        </p:nvSpPr>
        <p:spPr/>
        <p:txBody>
          <a:bodyPr/>
          <a:lstStyle/>
          <a:p>
            <a:pPr>
              <a:defRPr/>
            </a:pPr>
            <a:fld id="{DC388E2F-68BC-4779-8174-D9FA151BC978}" type="slidenum">
              <a:rPr lang="en-US" altLang="en-US" smtClean="0"/>
              <a:pPr>
                <a:defRPr/>
              </a:pPr>
              <a:t>23</a:t>
            </a:fld>
            <a:endParaRPr lang="en-US" altLang="en-US"/>
          </a:p>
        </p:txBody>
      </p:sp>
      <p:pic>
        <p:nvPicPr>
          <p:cNvPr id="26628" name="Picture 7">
            <a:extLst>
              <a:ext uri="{FF2B5EF4-FFF2-40B4-BE49-F238E27FC236}">
                <a16:creationId xmlns:a16="http://schemas.microsoft.com/office/drawing/2014/main" id="{AFC39977-E7D8-E65D-BCAA-3B52BB193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3" y="53975"/>
            <a:ext cx="4111625" cy="661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1">
            <a:extLst>
              <a:ext uri="{FF2B5EF4-FFF2-40B4-BE49-F238E27FC236}">
                <a16:creationId xmlns:a16="http://schemas.microsoft.com/office/drawing/2014/main" id="{B9E7EA0A-D144-A97B-6093-4F20C49E8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79375"/>
            <a:ext cx="3989388" cy="659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7E29765-BAE2-B885-4520-F8AE2B495041}"/>
              </a:ext>
            </a:extLst>
          </p:cNvPr>
          <p:cNvSpPr>
            <a:spLocks noGrp="1"/>
          </p:cNvSpPr>
          <p:nvPr>
            <p:ph type="dt" sz="quarter" idx="10"/>
          </p:nvPr>
        </p:nvSpPr>
        <p:spPr/>
        <p:txBody>
          <a:bodyPr/>
          <a:lstStyle/>
          <a:p>
            <a:pPr>
              <a:defRPr/>
            </a:pPr>
            <a:r>
              <a:rPr lang="en-US"/>
              <a:t>CS 362</a:t>
            </a:r>
          </a:p>
        </p:txBody>
      </p:sp>
      <p:sp>
        <p:nvSpPr>
          <p:cNvPr id="6" name="Slide Number Placeholder 5">
            <a:extLst>
              <a:ext uri="{FF2B5EF4-FFF2-40B4-BE49-F238E27FC236}">
                <a16:creationId xmlns:a16="http://schemas.microsoft.com/office/drawing/2014/main" id="{6F6FF0D6-EB2B-BBF4-86BD-6F9CB0EC67B3}"/>
              </a:ext>
            </a:extLst>
          </p:cNvPr>
          <p:cNvSpPr>
            <a:spLocks noGrp="1"/>
          </p:cNvSpPr>
          <p:nvPr>
            <p:ph type="sldNum" sz="quarter" idx="12"/>
          </p:nvPr>
        </p:nvSpPr>
        <p:spPr/>
        <p:txBody>
          <a:bodyPr/>
          <a:lstStyle/>
          <a:p>
            <a:pPr>
              <a:defRPr/>
            </a:pPr>
            <a:fld id="{C8D59F55-F324-4F65-A2B4-A1E4608AD89C}" type="slidenum">
              <a:rPr lang="en-US" altLang="en-US" smtClean="0"/>
              <a:pPr>
                <a:defRPr/>
              </a:pPr>
              <a:t>24</a:t>
            </a:fld>
            <a:endParaRPr lang="en-US" altLang="en-US"/>
          </a:p>
        </p:txBody>
      </p:sp>
      <p:pic>
        <p:nvPicPr>
          <p:cNvPr id="27652" name="Picture 2">
            <a:extLst>
              <a:ext uri="{FF2B5EF4-FFF2-40B4-BE49-F238E27FC236}">
                <a16:creationId xmlns:a16="http://schemas.microsoft.com/office/drawing/2014/main" id="{FD2FA36D-213A-C96F-7019-E7BAE83C8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1750"/>
            <a:ext cx="4237038" cy="666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1">
            <a:extLst>
              <a:ext uri="{FF2B5EF4-FFF2-40B4-BE49-F238E27FC236}">
                <a16:creationId xmlns:a16="http://schemas.microsoft.com/office/drawing/2014/main" id="{5F8604BF-A662-E62B-CFBD-FDF21A75E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250" y="31750"/>
            <a:ext cx="4005263" cy="440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7D2534C3-AB61-2224-090C-4C24307BE751}"/>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25E78D72-B547-4C19-9BD5-381B2924023C}" type="slidenum">
              <a:rPr lang="en-US" altLang="en-US" sz="1400" smtClean="0">
                <a:latin typeface="Arial" panose="020B0604020202020204" pitchFamily="34" charset="0"/>
              </a:rPr>
              <a:pPr>
                <a:spcBef>
                  <a:spcPct val="0"/>
                </a:spcBef>
                <a:buClrTx/>
                <a:buSzTx/>
                <a:buFontTx/>
                <a:buNone/>
                <a:defRPr/>
              </a:pPr>
              <a:t>25</a:t>
            </a:fld>
            <a:endParaRPr lang="en-US" altLang="en-US" sz="1400" dirty="0">
              <a:latin typeface="Arial" panose="020B0604020202020204" pitchFamily="34" charset="0"/>
            </a:endParaRPr>
          </a:p>
        </p:txBody>
      </p:sp>
      <p:sp>
        <p:nvSpPr>
          <p:cNvPr id="305154" name="Rectangle 2">
            <a:extLst>
              <a:ext uri="{FF2B5EF4-FFF2-40B4-BE49-F238E27FC236}">
                <a16:creationId xmlns:a16="http://schemas.microsoft.com/office/drawing/2014/main" id="{ACCB2BED-33DD-F4A3-2982-23E3DCF1819E}"/>
              </a:ext>
            </a:extLst>
          </p:cNvPr>
          <p:cNvSpPr>
            <a:spLocks noGrp="1" noChangeArrowheads="1"/>
          </p:cNvSpPr>
          <p:nvPr>
            <p:ph type="title"/>
          </p:nvPr>
        </p:nvSpPr>
        <p:spPr>
          <a:xfrm>
            <a:off x="533400" y="174625"/>
            <a:ext cx="8229600" cy="1371600"/>
          </a:xfrm>
        </p:spPr>
        <p:txBody>
          <a:bodyPr/>
          <a:lstStyle/>
          <a:p>
            <a:pPr eaLnBrk="1" hangingPunct="1">
              <a:defRPr/>
            </a:pPr>
            <a:r>
              <a:rPr lang="en-US" sz="2800" dirty="0"/>
              <a:t>Enhancement: Pipelining of document processing</a:t>
            </a:r>
            <a:br>
              <a:rPr lang="en-US" sz="3600" dirty="0"/>
            </a:br>
            <a:endParaRPr lang="en-US" sz="3600" dirty="0"/>
          </a:p>
        </p:txBody>
      </p:sp>
      <p:sp>
        <p:nvSpPr>
          <p:cNvPr id="305155" name="Rectangle 3">
            <a:extLst>
              <a:ext uri="{FF2B5EF4-FFF2-40B4-BE49-F238E27FC236}">
                <a16:creationId xmlns:a16="http://schemas.microsoft.com/office/drawing/2014/main" id="{C615F3F2-8542-688E-E764-960E0752FAE0}"/>
              </a:ext>
            </a:extLst>
          </p:cNvPr>
          <p:cNvSpPr>
            <a:spLocks noGrp="1" noChangeArrowheads="1"/>
          </p:cNvSpPr>
          <p:nvPr>
            <p:ph type="body" idx="1"/>
          </p:nvPr>
        </p:nvSpPr>
        <p:spPr>
          <a:xfrm>
            <a:off x="381000" y="1551015"/>
            <a:ext cx="8305800" cy="3935385"/>
          </a:xfrm>
        </p:spPr>
        <p:txBody>
          <a:bodyPr/>
          <a:lstStyle/>
          <a:p>
            <a:pPr eaLnBrk="1" hangingPunct="1">
              <a:defRPr/>
            </a:pPr>
            <a:r>
              <a:rPr lang="en-US" sz="1800" dirty="0"/>
              <a:t>When we began our design, we assumed that nearly all of the time would be spent reading document files and the associated vectors. We left the tasks of identifying the plain text files and the results file as sequential tasks. No document files are processed until the manager has identified all of them. If the time needed to perform these tasks is not negligible, then our design will not scale well to larger number of processors.</a:t>
            </a:r>
          </a:p>
          <a:p>
            <a:pPr eaLnBrk="1" hangingPunct="1">
              <a:defRPr/>
            </a:pPr>
            <a:r>
              <a:rPr lang="en-US" sz="1800" dirty="0"/>
              <a:t>Lets us ignore the dictionary construction task and divide the document identification task into smaller units. While we are identifying document 1, we could begin reading document 0. While we are in one phase of processing document </a:t>
            </a:r>
            <a:r>
              <a:rPr lang="en-US" sz="1800" i="1" dirty="0" err="1"/>
              <a:t>i</a:t>
            </a:r>
            <a:r>
              <a:rPr lang="en-US" sz="1800" dirty="0"/>
              <a:t>, we can be in later phases of processing documents </a:t>
            </a:r>
            <a:r>
              <a:rPr lang="en-US" sz="1800" i="1" dirty="0" err="1"/>
              <a:t>i</a:t>
            </a:r>
            <a:r>
              <a:rPr lang="en-US" sz="1800" dirty="0"/>
              <a:t> -1, </a:t>
            </a:r>
            <a:r>
              <a:rPr lang="en-US" sz="1800" i="1" dirty="0" err="1"/>
              <a:t>i</a:t>
            </a:r>
            <a:r>
              <a:rPr lang="en-US" sz="1800" dirty="0"/>
              <a:t> -2, etc. This is an example of pipelining.</a:t>
            </a:r>
          </a:p>
          <a:p>
            <a:pPr eaLnBrk="1" hangingPunct="1">
              <a:defRPr/>
            </a:pPr>
            <a:r>
              <a:rPr lang="en-US" sz="1800" dirty="0"/>
              <a:t>It can dramatically reduce the execution time of a parallel program with functional parallelism.</a:t>
            </a:r>
          </a:p>
        </p:txBody>
      </p:sp>
      <p:sp>
        <p:nvSpPr>
          <p:cNvPr id="2" name="Date Placeholder 1">
            <a:extLst>
              <a:ext uri="{FF2B5EF4-FFF2-40B4-BE49-F238E27FC236}">
                <a16:creationId xmlns:a16="http://schemas.microsoft.com/office/drawing/2014/main" id="{9AB8F8B2-FAE8-FA95-A4BC-A220740F946C}"/>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7127F0A6-BAF1-D1D4-A1FE-A4C3FE2F4011}"/>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5863091-276F-F665-F283-5CA1F8E6DC5A}"/>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4009A025-6A1D-4AC0-8E8F-0E5EA5652EB1}" type="slidenum">
              <a:rPr lang="en-US" altLang="en-US" sz="1400" smtClean="0">
                <a:latin typeface="Arial" panose="020B0604020202020204" pitchFamily="34" charset="0"/>
              </a:rPr>
              <a:pPr>
                <a:spcBef>
                  <a:spcPct val="0"/>
                </a:spcBef>
                <a:buClrTx/>
                <a:buSzTx/>
                <a:buFontTx/>
                <a:buNone/>
                <a:defRPr/>
              </a:pPr>
              <a:t>26</a:t>
            </a:fld>
            <a:endParaRPr lang="en-US" altLang="en-US" sz="1400">
              <a:latin typeface="Arial" panose="020B0604020202020204" pitchFamily="34" charset="0"/>
            </a:endParaRPr>
          </a:p>
        </p:txBody>
      </p:sp>
      <p:sp>
        <p:nvSpPr>
          <p:cNvPr id="307202" name="Rectangle 2">
            <a:extLst>
              <a:ext uri="{FF2B5EF4-FFF2-40B4-BE49-F238E27FC236}">
                <a16:creationId xmlns:a16="http://schemas.microsoft.com/office/drawing/2014/main" id="{EA98090F-FE5C-126F-AE57-A7730E17B0B9}"/>
              </a:ext>
            </a:extLst>
          </p:cNvPr>
          <p:cNvSpPr>
            <a:spLocks noGrp="1" noChangeArrowheads="1"/>
          </p:cNvSpPr>
          <p:nvPr>
            <p:ph type="title"/>
          </p:nvPr>
        </p:nvSpPr>
        <p:spPr>
          <a:xfrm>
            <a:off x="381000" y="0"/>
            <a:ext cx="8229600" cy="1143000"/>
          </a:xfrm>
        </p:spPr>
        <p:txBody>
          <a:bodyPr/>
          <a:lstStyle/>
          <a:p>
            <a:pPr eaLnBrk="1" hangingPunct="1">
              <a:defRPr/>
            </a:pPr>
            <a:r>
              <a:rPr lang="en-US" sz="3200" dirty="0"/>
              <a:t>Pipelining</a:t>
            </a:r>
          </a:p>
        </p:txBody>
      </p:sp>
      <p:pic>
        <p:nvPicPr>
          <p:cNvPr id="29700" name="Picture 3" descr="DocumentClassPipelinedTasks">
            <a:extLst>
              <a:ext uri="{FF2B5EF4-FFF2-40B4-BE49-F238E27FC236}">
                <a16:creationId xmlns:a16="http://schemas.microsoft.com/office/drawing/2014/main" id="{D7762A53-D590-D17B-67B2-EA72B3219E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067" y="1180214"/>
            <a:ext cx="3581400" cy="4497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45F65E19-2C9F-1317-28E6-9CD3B2BAFE27}"/>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1307C883-8490-FD16-2D32-A53D6913776C}"/>
              </a:ext>
            </a:extLst>
          </p:cNvPr>
          <p:cNvSpPr>
            <a:spLocks noGrp="1"/>
          </p:cNvSpPr>
          <p:nvPr>
            <p:ph type="ftr" sz="quarter" idx="11"/>
          </p:nvPr>
        </p:nvSpPr>
        <p:spPr/>
        <p:txBody>
          <a:bodyPr/>
          <a:lstStyle/>
          <a:p>
            <a:pPr>
              <a:defRPr/>
            </a:pPr>
            <a:r>
              <a:rPr lang="en-US"/>
              <a:t>Principles of Programming Languages II</a:t>
            </a:r>
          </a:p>
        </p:txBody>
      </p:sp>
      <p:sp>
        <p:nvSpPr>
          <p:cNvPr id="29703" name="TextBox 5">
            <a:extLst>
              <a:ext uri="{FF2B5EF4-FFF2-40B4-BE49-F238E27FC236}">
                <a16:creationId xmlns:a16="http://schemas.microsoft.com/office/drawing/2014/main" id="{39D66735-7711-961C-93D5-8138C5EEB81B}"/>
              </a:ext>
            </a:extLst>
          </p:cNvPr>
          <p:cNvSpPr txBox="1">
            <a:spLocks noChangeArrowheads="1"/>
          </p:cNvSpPr>
          <p:nvPr/>
        </p:nvSpPr>
        <p:spPr bwMode="auto">
          <a:xfrm>
            <a:off x="4419600" y="2133600"/>
            <a:ext cx="45720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en-US" sz="1600" dirty="0"/>
              <a:t>By dividing the task of identifying</a:t>
            </a:r>
          </a:p>
          <a:p>
            <a:r>
              <a:rPr lang="en-US" altLang="en-US" sz="1600" dirty="0"/>
              <a:t>documents into its elemental tasks, we can</a:t>
            </a:r>
          </a:p>
          <a:p>
            <a:r>
              <a:rPr lang="en-US" altLang="en-US" sz="1600" dirty="0"/>
              <a:t>expose the opportunity for pipelining the</a:t>
            </a:r>
          </a:p>
          <a:p>
            <a:r>
              <a:rPr lang="en-US" altLang="en-US" sz="1600" dirty="0"/>
              <a:t>processing of the documents. </a:t>
            </a:r>
          </a:p>
          <a:p>
            <a:endParaRPr lang="en-US" altLang="en-US" sz="1600" dirty="0"/>
          </a:p>
          <a:p>
            <a:r>
              <a:rPr lang="en-US" altLang="en-US" sz="1600" dirty="0"/>
              <a:t>We can generate the profile for document 0 while we are reading document 1 while we are identifying document 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1CE70EB-C905-A36A-A4FE-74E5679E4C20}"/>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95180247-1E64-44B1-B8C1-A2929B93E9DA}" type="slidenum">
              <a:rPr lang="en-US" altLang="en-US" sz="1400" smtClean="0">
                <a:latin typeface="Arial" panose="020B0604020202020204" pitchFamily="34" charset="0"/>
              </a:rPr>
              <a:pPr>
                <a:spcBef>
                  <a:spcPct val="0"/>
                </a:spcBef>
                <a:buClrTx/>
                <a:buSzTx/>
                <a:buFontTx/>
                <a:buNone/>
                <a:defRPr/>
              </a:pPr>
              <a:t>27</a:t>
            </a:fld>
            <a:endParaRPr lang="en-US" altLang="en-US" sz="1400">
              <a:latin typeface="Arial" panose="020B0604020202020204" pitchFamily="34" charset="0"/>
            </a:endParaRPr>
          </a:p>
        </p:txBody>
      </p:sp>
      <p:sp>
        <p:nvSpPr>
          <p:cNvPr id="308226" name="Rectangle 2">
            <a:extLst>
              <a:ext uri="{FF2B5EF4-FFF2-40B4-BE49-F238E27FC236}">
                <a16:creationId xmlns:a16="http://schemas.microsoft.com/office/drawing/2014/main" id="{933B6A28-C57D-0C91-8729-53A7F5885377}"/>
              </a:ext>
            </a:extLst>
          </p:cNvPr>
          <p:cNvSpPr>
            <a:spLocks noGrp="1" noChangeArrowheads="1"/>
          </p:cNvSpPr>
          <p:nvPr>
            <p:ph type="title"/>
          </p:nvPr>
        </p:nvSpPr>
        <p:spPr>
          <a:xfrm>
            <a:off x="381000" y="152400"/>
            <a:ext cx="8305800" cy="1752600"/>
          </a:xfrm>
        </p:spPr>
        <p:txBody>
          <a:bodyPr/>
          <a:lstStyle/>
          <a:p>
            <a:pPr eaLnBrk="1" hangingPunct="1">
              <a:defRPr/>
            </a:pPr>
            <a:r>
              <a:rPr lang="en-US" sz="2800" dirty="0"/>
              <a:t>Time Savings through Pipelining</a:t>
            </a:r>
            <a:br>
              <a:rPr lang="en-US" sz="3200" dirty="0"/>
            </a:br>
            <a:r>
              <a:rPr lang="en-US" sz="1800" dirty="0"/>
              <a:t>I = identify</a:t>
            </a:r>
            <a:br>
              <a:rPr lang="en-US" sz="1800" dirty="0"/>
            </a:br>
            <a:r>
              <a:rPr lang="en-US" sz="1800" dirty="0"/>
              <a:t>RG = Read &amp; Generate profile vector</a:t>
            </a:r>
            <a:br>
              <a:rPr lang="en-US" sz="1800" dirty="0"/>
            </a:br>
            <a:r>
              <a:rPr lang="en-US" sz="1800" dirty="0"/>
              <a:t>W = Write profile vector</a:t>
            </a:r>
            <a:endParaRPr lang="en-US" sz="3200" dirty="0"/>
          </a:p>
        </p:txBody>
      </p:sp>
      <p:pic>
        <p:nvPicPr>
          <p:cNvPr id="30724" name="Picture 3" descr="TaskPipelining">
            <a:extLst>
              <a:ext uri="{FF2B5EF4-FFF2-40B4-BE49-F238E27FC236}">
                <a16:creationId xmlns:a16="http://schemas.microsoft.com/office/drawing/2014/main" id="{B248C6F3-0756-2A53-23E8-293CA6FB9C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133600"/>
            <a:ext cx="7277100" cy="3372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75A493E-E9E5-0E04-67BE-CAB3555D7D42}"/>
              </a:ext>
            </a:extLst>
          </p:cNvPr>
          <p:cNvSpPr>
            <a:spLocks noGrp="1"/>
          </p:cNvSpPr>
          <p:nvPr>
            <p:ph type="dt" sz="quarter" idx="10"/>
          </p:nvPr>
        </p:nvSpPr>
        <p:spPr/>
        <p:txBody>
          <a:bodyPr/>
          <a:lstStyle/>
          <a:p>
            <a:pPr>
              <a:defRPr/>
            </a:pPr>
            <a:r>
              <a:rPr lang="en-US" dirty="0"/>
              <a:t>CS 362</a:t>
            </a:r>
          </a:p>
        </p:txBody>
      </p:sp>
      <p:sp>
        <p:nvSpPr>
          <p:cNvPr id="3" name="Footer Placeholder 2">
            <a:extLst>
              <a:ext uri="{FF2B5EF4-FFF2-40B4-BE49-F238E27FC236}">
                <a16:creationId xmlns:a16="http://schemas.microsoft.com/office/drawing/2014/main" id="{B3861186-3CB3-BC77-A36A-69672748C2A5}"/>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7C652F1-F71F-0D00-571D-A71DC6712F2D}"/>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72E4C2C9-A4C8-4F8A-A752-2A6760ACCB0D}" type="slidenum">
              <a:rPr lang="en-US" altLang="en-US" sz="1400" smtClean="0">
                <a:latin typeface="Arial" panose="020B0604020202020204" pitchFamily="34" charset="0"/>
              </a:rPr>
              <a:pPr>
                <a:spcBef>
                  <a:spcPct val="0"/>
                </a:spcBef>
                <a:buClrTx/>
                <a:buSzTx/>
                <a:buFontTx/>
                <a:buNone/>
                <a:defRPr/>
              </a:pPr>
              <a:t>28</a:t>
            </a:fld>
            <a:endParaRPr lang="en-US" altLang="en-US" sz="1400">
              <a:latin typeface="Arial" panose="020B0604020202020204" pitchFamily="34" charset="0"/>
            </a:endParaRPr>
          </a:p>
        </p:txBody>
      </p:sp>
      <p:sp>
        <p:nvSpPr>
          <p:cNvPr id="309250" name="Rectangle 2">
            <a:extLst>
              <a:ext uri="{FF2B5EF4-FFF2-40B4-BE49-F238E27FC236}">
                <a16:creationId xmlns:a16="http://schemas.microsoft.com/office/drawing/2014/main" id="{B341F811-D339-504B-AE0B-509C5569349B}"/>
              </a:ext>
            </a:extLst>
          </p:cNvPr>
          <p:cNvSpPr>
            <a:spLocks noGrp="1" noChangeArrowheads="1"/>
          </p:cNvSpPr>
          <p:nvPr>
            <p:ph type="title"/>
          </p:nvPr>
        </p:nvSpPr>
        <p:spPr>
          <a:xfrm>
            <a:off x="457200" y="0"/>
            <a:ext cx="8229600" cy="1219200"/>
          </a:xfrm>
        </p:spPr>
        <p:txBody>
          <a:bodyPr/>
          <a:lstStyle/>
          <a:p>
            <a:pPr eaLnBrk="1" hangingPunct="1">
              <a:defRPr/>
            </a:pPr>
            <a:r>
              <a:rPr lang="en-US" sz="3200" dirty="0"/>
              <a:t>Pipelined Manager Pseudocode</a:t>
            </a:r>
          </a:p>
        </p:txBody>
      </p:sp>
      <p:sp>
        <p:nvSpPr>
          <p:cNvPr id="31748" name="Text Box 3">
            <a:extLst>
              <a:ext uri="{FF2B5EF4-FFF2-40B4-BE49-F238E27FC236}">
                <a16:creationId xmlns:a16="http://schemas.microsoft.com/office/drawing/2014/main" id="{CEDA3B5A-1603-3A3C-D14D-6B6740D88B8D}"/>
              </a:ext>
            </a:extLst>
          </p:cNvPr>
          <p:cNvSpPr txBox="1">
            <a:spLocks noChangeArrowheads="1"/>
          </p:cNvSpPr>
          <p:nvPr/>
        </p:nvSpPr>
        <p:spPr bwMode="auto">
          <a:xfrm>
            <a:off x="1447800" y="1447800"/>
            <a:ext cx="594265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600" i="1" dirty="0">
                <a:latin typeface="Arial Unicode MS" pitchFamily="34" charset="-128"/>
              </a:rPr>
              <a:t>a</a:t>
            </a:r>
            <a:r>
              <a:rPr lang="en-US" altLang="en-US" sz="1600" dirty="0">
                <a:latin typeface="Arial Unicode MS" pitchFamily="34" charset="-128"/>
              </a:rPr>
              <a:t> </a:t>
            </a:r>
            <a:r>
              <a:rPr lang="en-US" altLang="en-US" sz="1600" dirty="0">
                <a:latin typeface="Arial Unicode MS" pitchFamily="34" charset="-128"/>
                <a:sym typeface="Symbol" panose="05050102010706020507" pitchFamily="18" charset="2"/>
              </a:rPr>
              <a:t></a:t>
            </a:r>
            <a:r>
              <a:rPr lang="en-US" altLang="en-US" sz="1600" dirty="0">
                <a:latin typeface="Arial Unicode MS" pitchFamily="34" charset="-128"/>
              </a:rPr>
              <a:t>  0 	{assigned jobs}</a:t>
            </a:r>
          </a:p>
          <a:p>
            <a:pPr eaLnBrk="1" hangingPunct="1">
              <a:spcBef>
                <a:spcPct val="0"/>
              </a:spcBef>
              <a:buClrTx/>
              <a:buSzTx/>
              <a:buFontTx/>
              <a:buNone/>
            </a:pPr>
            <a:r>
              <a:rPr lang="en-US" altLang="en-US" sz="1600" i="1" dirty="0">
                <a:latin typeface="Arial Unicode MS" pitchFamily="34" charset="-128"/>
              </a:rPr>
              <a:t>j </a:t>
            </a:r>
            <a:r>
              <a:rPr lang="en-US" altLang="en-US" sz="1600" dirty="0">
                <a:latin typeface="Arial Unicode MS" pitchFamily="34" charset="-128"/>
                <a:sym typeface="Symbol" panose="05050102010706020507" pitchFamily="18" charset="2"/>
              </a:rPr>
              <a:t> 0 	{available jobs}</a:t>
            </a:r>
          </a:p>
          <a:p>
            <a:pPr eaLnBrk="1" hangingPunct="1">
              <a:spcBef>
                <a:spcPct val="0"/>
              </a:spcBef>
              <a:buClrTx/>
              <a:buSzTx/>
              <a:buFontTx/>
              <a:buNone/>
            </a:pPr>
            <a:r>
              <a:rPr lang="en-US" altLang="en-US" sz="1600" i="1" dirty="0">
                <a:latin typeface="Arial Unicode MS" pitchFamily="34" charset="-128"/>
                <a:sym typeface="Symbol" panose="05050102010706020507" pitchFamily="18" charset="2"/>
              </a:rPr>
              <a:t>w</a:t>
            </a:r>
            <a:r>
              <a:rPr lang="en-US" altLang="en-US" sz="1600" dirty="0">
                <a:latin typeface="Arial Unicode MS" pitchFamily="34" charset="-128"/>
                <a:sym typeface="Symbol" panose="05050102010706020507" pitchFamily="18" charset="2"/>
              </a:rPr>
              <a:t>  0 	{workers waiting for assignment}</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repeat</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if (</a:t>
            </a:r>
            <a:r>
              <a:rPr lang="en-US" altLang="en-US" sz="1600" i="1" dirty="0">
                <a:latin typeface="Arial Unicode MS" pitchFamily="34" charset="-128"/>
                <a:sym typeface="Symbol" panose="05050102010706020507" pitchFamily="18" charset="2"/>
              </a:rPr>
              <a:t>j</a:t>
            </a:r>
            <a:r>
              <a:rPr lang="en-US" altLang="en-US" sz="1600" dirty="0">
                <a:latin typeface="Arial Unicode MS" pitchFamily="34" charset="-128"/>
                <a:sym typeface="Symbol" panose="05050102010706020507" pitchFamily="18" charset="2"/>
              </a:rPr>
              <a:t> &gt; 0) and (</a:t>
            </a:r>
            <a:r>
              <a:rPr lang="en-US" altLang="en-US" sz="1600" i="1" dirty="0">
                <a:latin typeface="Arial Unicode MS" pitchFamily="34" charset="-128"/>
                <a:sym typeface="Symbol" panose="05050102010706020507" pitchFamily="18" charset="2"/>
              </a:rPr>
              <a:t>w</a:t>
            </a:r>
            <a:r>
              <a:rPr lang="en-US" altLang="en-US" sz="1600" dirty="0">
                <a:latin typeface="Arial Unicode MS" pitchFamily="34" charset="-128"/>
                <a:sym typeface="Symbol" panose="05050102010706020507" pitchFamily="18" charset="2"/>
              </a:rPr>
              <a:t> &gt; 0) then</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assign job to worker</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a:t>
            </a:r>
            <a:r>
              <a:rPr lang="en-US" altLang="en-US" sz="1600" i="1" dirty="0">
                <a:latin typeface="Arial Unicode MS" pitchFamily="34" charset="-128"/>
                <a:sym typeface="Symbol" panose="05050102010706020507" pitchFamily="18" charset="2"/>
              </a:rPr>
              <a:t>j</a:t>
            </a:r>
            <a:r>
              <a:rPr lang="en-US" altLang="en-US" sz="1600" dirty="0">
                <a:latin typeface="Arial Unicode MS" pitchFamily="34" charset="-128"/>
                <a:sym typeface="Symbol" panose="05050102010706020507" pitchFamily="18" charset="2"/>
              </a:rPr>
              <a:t>  </a:t>
            </a:r>
            <a:r>
              <a:rPr lang="en-US" altLang="en-US" sz="1600" i="1" dirty="0">
                <a:latin typeface="Arial Unicode MS" pitchFamily="34" charset="-128"/>
                <a:sym typeface="Symbol" panose="05050102010706020507" pitchFamily="18" charset="2"/>
              </a:rPr>
              <a:t>j</a:t>
            </a:r>
            <a:r>
              <a:rPr lang="en-US" altLang="en-US" sz="1600" dirty="0">
                <a:latin typeface="Arial Unicode MS" pitchFamily="34" charset="-128"/>
                <a:sym typeface="Symbol" panose="05050102010706020507" pitchFamily="18" charset="2"/>
              </a:rPr>
              <a:t> </a:t>
            </a:r>
            <a:r>
              <a:rPr lang="en-US" altLang="en-US" sz="1600" dirty="0">
                <a:latin typeface="Arial Unicode MS" pitchFamily="34" charset="-128"/>
                <a:ea typeface="Arial Unicode MS" pitchFamily="34" charset="-128"/>
                <a:sym typeface="Symbol" panose="05050102010706020507" pitchFamily="18" charset="2"/>
              </a:rPr>
              <a:t>–</a:t>
            </a:r>
            <a:r>
              <a:rPr lang="en-US" altLang="en-US" sz="1600" dirty="0">
                <a:latin typeface="Arial Unicode MS" pitchFamily="34" charset="-128"/>
                <a:sym typeface="Symbol" panose="05050102010706020507" pitchFamily="18" charset="2"/>
              </a:rPr>
              <a:t> 1; </a:t>
            </a:r>
            <a:r>
              <a:rPr lang="en-US" altLang="en-US" sz="1600" i="1" dirty="0">
                <a:latin typeface="Arial Unicode MS" pitchFamily="34" charset="-128"/>
                <a:sym typeface="Symbol" panose="05050102010706020507" pitchFamily="18" charset="2"/>
              </a:rPr>
              <a:t>w</a:t>
            </a:r>
            <a:r>
              <a:rPr lang="en-US" altLang="en-US" sz="1600" dirty="0">
                <a:latin typeface="Arial Unicode MS" pitchFamily="34" charset="-128"/>
                <a:sym typeface="Symbol" panose="05050102010706020507" pitchFamily="18" charset="2"/>
              </a:rPr>
              <a:t>  </a:t>
            </a:r>
            <a:r>
              <a:rPr lang="en-US" altLang="en-US" sz="1600" i="1" dirty="0">
                <a:latin typeface="Arial Unicode MS" pitchFamily="34" charset="-128"/>
                <a:sym typeface="Symbol" panose="05050102010706020507" pitchFamily="18" charset="2"/>
              </a:rPr>
              <a:t>w</a:t>
            </a:r>
            <a:r>
              <a:rPr lang="en-US" altLang="en-US" sz="1600" dirty="0">
                <a:latin typeface="Arial Unicode MS" pitchFamily="34" charset="-128"/>
                <a:sym typeface="Symbol" panose="05050102010706020507" pitchFamily="18" charset="2"/>
              </a:rPr>
              <a:t> </a:t>
            </a:r>
            <a:r>
              <a:rPr lang="en-US" altLang="en-US" sz="1600" dirty="0">
                <a:latin typeface="Arial Unicode MS" pitchFamily="34" charset="-128"/>
                <a:ea typeface="Arial Unicode MS" pitchFamily="34" charset="-128"/>
                <a:sym typeface="Symbol" panose="05050102010706020507" pitchFamily="18" charset="2"/>
              </a:rPr>
              <a:t>–</a:t>
            </a:r>
            <a:r>
              <a:rPr lang="en-US" altLang="en-US" sz="1600" dirty="0">
                <a:latin typeface="Arial Unicode MS" pitchFamily="34" charset="-128"/>
                <a:sym typeface="Symbol" panose="05050102010706020507" pitchFamily="18" charset="2"/>
              </a:rPr>
              <a:t> 1; </a:t>
            </a:r>
            <a:r>
              <a:rPr lang="en-US" altLang="en-US" sz="1600" i="1" dirty="0">
                <a:latin typeface="Arial Unicode MS" pitchFamily="34" charset="-128"/>
                <a:sym typeface="Symbol" panose="05050102010706020507" pitchFamily="18" charset="2"/>
              </a:rPr>
              <a:t>a</a:t>
            </a:r>
            <a:r>
              <a:rPr lang="en-US" altLang="en-US" sz="1600" dirty="0">
                <a:latin typeface="Arial Unicode MS" pitchFamily="34" charset="-128"/>
                <a:sym typeface="Symbol" panose="05050102010706020507" pitchFamily="18" charset="2"/>
              </a:rPr>
              <a:t>  </a:t>
            </a:r>
            <a:r>
              <a:rPr lang="en-US" altLang="en-US" sz="1600" i="1" dirty="0">
                <a:latin typeface="Arial Unicode MS" pitchFamily="34" charset="-128"/>
                <a:sym typeface="Symbol" panose="05050102010706020507" pitchFamily="18" charset="2"/>
              </a:rPr>
              <a:t>a</a:t>
            </a:r>
            <a:r>
              <a:rPr lang="en-US" altLang="en-US" sz="1600" dirty="0">
                <a:latin typeface="Arial Unicode MS" pitchFamily="34" charset="-128"/>
                <a:sym typeface="Symbol" panose="05050102010706020507" pitchFamily="18" charset="2"/>
              </a:rPr>
              <a:t> + 1</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else if (</a:t>
            </a:r>
            <a:r>
              <a:rPr lang="en-US" altLang="en-US" sz="1600" i="1" dirty="0">
                <a:latin typeface="Arial Unicode MS" pitchFamily="34" charset="-128"/>
                <a:sym typeface="Symbol" panose="05050102010706020507" pitchFamily="18" charset="2"/>
              </a:rPr>
              <a:t>j</a:t>
            </a:r>
            <a:r>
              <a:rPr lang="en-US" altLang="en-US" sz="1600" dirty="0">
                <a:latin typeface="Arial Unicode MS" pitchFamily="34" charset="-128"/>
                <a:sym typeface="Symbol" panose="05050102010706020507" pitchFamily="18" charset="2"/>
              </a:rPr>
              <a:t> &gt; 0) then</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handle an incoming message from workers</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increment </a:t>
            </a:r>
            <a:r>
              <a:rPr lang="en-US" altLang="en-US" sz="1600" i="1" dirty="0">
                <a:latin typeface="Arial Unicode MS" pitchFamily="34" charset="-128"/>
                <a:sym typeface="Symbol" panose="05050102010706020507" pitchFamily="18" charset="2"/>
              </a:rPr>
              <a:t>w</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else</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get another job</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increment </a:t>
            </a:r>
            <a:r>
              <a:rPr lang="en-US" altLang="en-US" sz="1600" i="1" dirty="0">
                <a:latin typeface="Arial Unicode MS" pitchFamily="34" charset="-128"/>
                <a:sym typeface="Symbol" panose="05050102010706020507" pitchFamily="18" charset="2"/>
              </a:rPr>
              <a:t>j</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	endif</a:t>
            </a:r>
          </a:p>
          <a:p>
            <a:pPr eaLnBrk="1" hangingPunct="1">
              <a:spcBef>
                <a:spcPct val="0"/>
              </a:spcBef>
              <a:buClrTx/>
              <a:buSzTx/>
              <a:buFontTx/>
              <a:buNone/>
            </a:pPr>
            <a:r>
              <a:rPr lang="en-US" altLang="en-US" sz="1600" dirty="0">
                <a:latin typeface="Arial Unicode MS" pitchFamily="34" charset="-128"/>
                <a:sym typeface="Symbol" panose="05050102010706020507" pitchFamily="18" charset="2"/>
              </a:rPr>
              <a:t>until (</a:t>
            </a:r>
            <a:r>
              <a:rPr lang="en-US" altLang="en-US" sz="1600" i="1" dirty="0">
                <a:latin typeface="Arial Unicode MS" pitchFamily="34" charset="-128"/>
                <a:sym typeface="Symbol" panose="05050102010706020507" pitchFamily="18" charset="2"/>
              </a:rPr>
              <a:t>a</a:t>
            </a:r>
            <a:r>
              <a:rPr lang="en-US" altLang="en-US" sz="1600" dirty="0">
                <a:latin typeface="Arial Unicode MS" pitchFamily="34" charset="-128"/>
                <a:sym typeface="Symbol" panose="05050102010706020507" pitchFamily="18" charset="2"/>
              </a:rPr>
              <a:t> = </a:t>
            </a:r>
            <a:r>
              <a:rPr lang="en-US" altLang="en-US" sz="1600" i="1" dirty="0">
                <a:latin typeface="Arial Unicode MS" pitchFamily="34" charset="-128"/>
                <a:sym typeface="Symbol" panose="05050102010706020507" pitchFamily="18" charset="2"/>
              </a:rPr>
              <a:t>n</a:t>
            </a:r>
            <a:r>
              <a:rPr lang="en-US" altLang="en-US" sz="1600" dirty="0">
                <a:latin typeface="Arial Unicode MS" pitchFamily="34" charset="-128"/>
                <a:sym typeface="Symbol" panose="05050102010706020507" pitchFamily="18" charset="2"/>
              </a:rPr>
              <a:t>) and (</a:t>
            </a:r>
            <a:r>
              <a:rPr lang="en-US" altLang="en-US" sz="1600" i="1" dirty="0">
                <a:latin typeface="Arial Unicode MS" pitchFamily="34" charset="-128"/>
                <a:sym typeface="Symbol" panose="05050102010706020507" pitchFamily="18" charset="2"/>
              </a:rPr>
              <a:t>w</a:t>
            </a:r>
            <a:r>
              <a:rPr lang="en-US" altLang="en-US" sz="1600" dirty="0">
                <a:latin typeface="Arial Unicode MS" pitchFamily="34" charset="-128"/>
                <a:sym typeface="Symbol" panose="05050102010706020507" pitchFamily="18" charset="2"/>
              </a:rPr>
              <a:t> = </a:t>
            </a:r>
            <a:r>
              <a:rPr lang="en-US" altLang="en-US" sz="1600" i="1" dirty="0">
                <a:latin typeface="Arial Unicode MS" pitchFamily="34" charset="-128"/>
                <a:sym typeface="Symbol" panose="05050102010706020507" pitchFamily="18" charset="2"/>
              </a:rPr>
              <a:t>p</a:t>
            </a:r>
            <a:r>
              <a:rPr lang="en-US" altLang="en-US" sz="1600" dirty="0">
                <a:latin typeface="Arial Unicode MS" pitchFamily="34" charset="-128"/>
                <a:sym typeface="Symbol" panose="05050102010706020507" pitchFamily="18" charset="2"/>
              </a:rPr>
              <a:t>)</a:t>
            </a:r>
            <a:endParaRPr lang="en-US" altLang="en-US" sz="2000" dirty="0">
              <a:latin typeface="Arial Unicode MS" pitchFamily="34" charset="-128"/>
              <a:sym typeface="Symbol" panose="05050102010706020507" pitchFamily="18" charset="2"/>
            </a:endParaRPr>
          </a:p>
        </p:txBody>
      </p:sp>
      <p:sp>
        <p:nvSpPr>
          <p:cNvPr id="2" name="Date Placeholder 1">
            <a:extLst>
              <a:ext uri="{FF2B5EF4-FFF2-40B4-BE49-F238E27FC236}">
                <a16:creationId xmlns:a16="http://schemas.microsoft.com/office/drawing/2014/main" id="{B9A2AA1A-7C63-4CEA-F974-1973E4D98AA5}"/>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C6A79AA8-3CA9-C95D-8343-6DCCCAD1E4C1}"/>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4BB9604-8C99-5737-DDE2-EA326C109E36}"/>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51D12531-DB01-42D2-8455-BFB5875A02A6}" type="slidenum">
              <a:rPr lang="en-US" altLang="en-US" sz="1400" smtClean="0">
                <a:latin typeface="Arial" panose="020B0604020202020204" pitchFamily="34" charset="0"/>
              </a:rPr>
              <a:pPr>
                <a:spcBef>
                  <a:spcPct val="0"/>
                </a:spcBef>
                <a:buClrTx/>
                <a:buSzTx/>
                <a:buFontTx/>
                <a:buNone/>
                <a:defRPr/>
              </a:pPr>
              <a:t>29</a:t>
            </a:fld>
            <a:endParaRPr lang="en-US" altLang="en-US" sz="1400">
              <a:latin typeface="Arial" panose="020B0604020202020204" pitchFamily="34" charset="0"/>
            </a:endParaRPr>
          </a:p>
        </p:txBody>
      </p:sp>
      <p:sp>
        <p:nvSpPr>
          <p:cNvPr id="332804" name="Rectangle 4">
            <a:extLst>
              <a:ext uri="{FF2B5EF4-FFF2-40B4-BE49-F238E27FC236}">
                <a16:creationId xmlns:a16="http://schemas.microsoft.com/office/drawing/2014/main" id="{FB6A1896-E5C3-CA0A-5968-A16C1FD67B52}"/>
              </a:ext>
            </a:extLst>
          </p:cNvPr>
          <p:cNvSpPr>
            <a:spLocks noGrp="1" noChangeArrowheads="1"/>
          </p:cNvSpPr>
          <p:nvPr>
            <p:ph type="body" idx="1"/>
          </p:nvPr>
        </p:nvSpPr>
        <p:spPr>
          <a:xfrm>
            <a:off x="1295400" y="1752600"/>
            <a:ext cx="7005637" cy="2286000"/>
          </a:xfrm>
        </p:spPr>
        <p:txBody>
          <a:bodyPr/>
          <a:lstStyle/>
          <a:p>
            <a:pPr eaLnBrk="1" hangingPunct="1">
              <a:defRPr/>
            </a:pPr>
            <a:r>
              <a:rPr lang="en-US" sz="2000" dirty="0"/>
              <a:t>To implement pipelining, we need the function MPI_Testsome.</a:t>
            </a:r>
          </a:p>
          <a:p>
            <a:pPr eaLnBrk="1" hangingPunct="1">
              <a:defRPr/>
            </a:pPr>
            <a:r>
              <a:rPr lang="en-US" sz="2000" dirty="0"/>
              <a:t>MPI_Testsome is a non-blocking MPI function that tests for the completion of multiple communication requests.</a:t>
            </a:r>
          </a:p>
          <a:p>
            <a:pPr eaLnBrk="1" hangingPunct="1">
              <a:defRPr/>
            </a:pPr>
            <a:r>
              <a:rPr lang="en-US" sz="2000" dirty="0"/>
              <a:t>It is useful when dealing with multiple concurrent non-blocking operations (</a:t>
            </a:r>
            <a:r>
              <a:rPr lang="en-US" sz="2000" dirty="0" err="1"/>
              <a:t>MPI_Irecv</a:t>
            </a:r>
            <a:r>
              <a:rPr lang="en-US" sz="2000" dirty="0"/>
              <a:t>, </a:t>
            </a:r>
            <a:r>
              <a:rPr lang="en-US" sz="2000" dirty="0" err="1"/>
              <a:t>MPI_Isend</a:t>
            </a:r>
            <a:r>
              <a:rPr lang="en-US" sz="2000" dirty="0"/>
              <a:t>, etc.), as it allows checking which operations have finished without waiting for all of them to complete.</a:t>
            </a:r>
          </a:p>
        </p:txBody>
      </p:sp>
      <p:sp>
        <p:nvSpPr>
          <p:cNvPr id="2" name="Date Placeholder 1">
            <a:extLst>
              <a:ext uri="{FF2B5EF4-FFF2-40B4-BE49-F238E27FC236}">
                <a16:creationId xmlns:a16="http://schemas.microsoft.com/office/drawing/2014/main" id="{C9EF3CB6-3331-99F8-B365-390CDA9B2CA2}"/>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ECC2A7F9-EFDA-2387-7739-CC13C14A7B5B}"/>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1478F06F-1DD6-6306-36C0-E3F4C9EA1A0D}"/>
              </a:ext>
            </a:extLst>
          </p:cNvPr>
          <p:cNvSpPr>
            <a:spLocks noGrp="1"/>
          </p:cNvSpPr>
          <p:nvPr>
            <p:ph type="sldNum" sz="quarter" idx="12"/>
          </p:nvPr>
        </p:nvSpPr>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defRPr/>
            </a:pPr>
            <a:fld id="{0F6BFD9F-9729-4421-A27B-2CFEA99B2BC3}" type="slidenum">
              <a:rPr lang="en-US" altLang="en-US" sz="1400" smtClean="0">
                <a:latin typeface="Arial" panose="020B0604020202020204" pitchFamily="34" charset="0"/>
              </a:rPr>
              <a:pPr>
                <a:spcBef>
                  <a:spcPct val="0"/>
                </a:spcBef>
                <a:buClrTx/>
                <a:buSzTx/>
                <a:buFontTx/>
                <a:buNone/>
                <a:defRPr/>
              </a:pPr>
              <a:t>30</a:t>
            </a:fld>
            <a:endParaRPr lang="en-US" altLang="en-US" sz="1400">
              <a:latin typeface="Arial" panose="020B0604020202020204" pitchFamily="34" charset="0"/>
            </a:endParaRPr>
          </a:p>
        </p:txBody>
      </p:sp>
      <p:sp>
        <p:nvSpPr>
          <p:cNvPr id="319490" name="Rectangle 2">
            <a:extLst>
              <a:ext uri="{FF2B5EF4-FFF2-40B4-BE49-F238E27FC236}">
                <a16:creationId xmlns:a16="http://schemas.microsoft.com/office/drawing/2014/main" id="{9C0CC275-5D74-AF2F-7BB4-FC5842928A06}"/>
              </a:ext>
            </a:extLst>
          </p:cNvPr>
          <p:cNvSpPr>
            <a:spLocks noGrp="1" noChangeArrowheads="1"/>
          </p:cNvSpPr>
          <p:nvPr>
            <p:ph type="title"/>
          </p:nvPr>
        </p:nvSpPr>
        <p:spPr>
          <a:xfrm>
            <a:off x="457200" y="0"/>
            <a:ext cx="8229600" cy="1066800"/>
          </a:xfrm>
        </p:spPr>
        <p:txBody>
          <a:bodyPr/>
          <a:lstStyle/>
          <a:p>
            <a:pPr eaLnBrk="1" hangingPunct="1">
              <a:defRPr/>
            </a:pPr>
            <a:r>
              <a:rPr lang="en-US" sz="3200" dirty="0"/>
              <a:t>Summary</a:t>
            </a:r>
          </a:p>
        </p:txBody>
      </p:sp>
      <p:sp>
        <p:nvSpPr>
          <p:cNvPr id="319491" name="Rectangle 3">
            <a:extLst>
              <a:ext uri="{FF2B5EF4-FFF2-40B4-BE49-F238E27FC236}">
                <a16:creationId xmlns:a16="http://schemas.microsoft.com/office/drawing/2014/main" id="{A295980E-9B43-B68E-FA02-7CEA1EAE2ABA}"/>
              </a:ext>
            </a:extLst>
          </p:cNvPr>
          <p:cNvSpPr>
            <a:spLocks noGrp="1" noChangeArrowheads="1"/>
          </p:cNvSpPr>
          <p:nvPr>
            <p:ph type="body" idx="1"/>
          </p:nvPr>
        </p:nvSpPr>
        <p:spPr>
          <a:xfrm>
            <a:off x="990600" y="1600200"/>
            <a:ext cx="7373937" cy="3657600"/>
          </a:xfrm>
        </p:spPr>
        <p:txBody>
          <a:bodyPr/>
          <a:lstStyle/>
          <a:p>
            <a:pPr eaLnBrk="1" hangingPunct="1">
              <a:lnSpc>
                <a:spcPct val="90000"/>
              </a:lnSpc>
              <a:defRPr/>
            </a:pPr>
            <a:r>
              <a:rPr lang="en-US" sz="2000" dirty="0"/>
              <a:t>Manager/worker paradigm</a:t>
            </a:r>
          </a:p>
          <a:p>
            <a:pPr lvl="1" eaLnBrk="1" hangingPunct="1">
              <a:lnSpc>
                <a:spcPct val="90000"/>
              </a:lnSpc>
              <a:defRPr/>
            </a:pPr>
            <a:r>
              <a:rPr lang="en-US" sz="1800" dirty="0"/>
              <a:t>Dynamic number of tasks</a:t>
            </a:r>
          </a:p>
          <a:p>
            <a:pPr lvl="1" eaLnBrk="1" hangingPunct="1">
              <a:lnSpc>
                <a:spcPct val="90000"/>
              </a:lnSpc>
              <a:defRPr/>
            </a:pPr>
            <a:r>
              <a:rPr lang="en-US" sz="1800" dirty="0"/>
              <a:t>Variable task lengths</a:t>
            </a:r>
          </a:p>
          <a:p>
            <a:pPr lvl="1" eaLnBrk="1" hangingPunct="1">
              <a:lnSpc>
                <a:spcPct val="90000"/>
              </a:lnSpc>
              <a:defRPr/>
            </a:pPr>
            <a:r>
              <a:rPr lang="en-US" sz="1800" dirty="0"/>
              <a:t>No communications between tasks</a:t>
            </a:r>
          </a:p>
          <a:p>
            <a:pPr eaLnBrk="1" hangingPunct="1">
              <a:lnSpc>
                <a:spcPct val="90000"/>
              </a:lnSpc>
              <a:defRPr/>
            </a:pPr>
            <a:r>
              <a:rPr lang="en-US" sz="2000" dirty="0"/>
              <a:t>New tools for “kit”</a:t>
            </a:r>
          </a:p>
          <a:p>
            <a:pPr lvl="1" eaLnBrk="1" hangingPunct="1">
              <a:lnSpc>
                <a:spcPct val="90000"/>
              </a:lnSpc>
              <a:defRPr/>
            </a:pPr>
            <a:r>
              <a:rPr lang="en-US" sz="1800" dirty="0"/>
              <a:t>Create manager/worker program</a:t>
            </a:r>
          </a:p>
          <a:p>
            <a:pPr lvl="1" eaLnBrk="1" hangingPunct="1">
              <a:lnSpc>
                <a:spcPct val="90000"/>
              </a:lnSpc>
              <a:defRPr/>
            </a:pPr>
            <a:r>
              <a:rPr lang="en-US" sz="1800" dirty="0"/>
              <a:t>Create workers-only communicator</a:t>
            </a:r>
          </a:p>
          <a:p>
            <a:pPr lvl="1" eaLnBrk="1" hangingPunct="1">
              <a:lnSpc>
                <a:spcPct val="90000"/>
              </a:lnSpc>
              <a:defRPr/>
            </a:pPr>
            <a:r>
              <a:rPr lang="en-US" sz="1800" dirty="0"/>
              <a:t>Non-blocking send/receive</a:t>
            </a:r>
          </a:p>
          <a:p>
            <a:pPr lvl="1" eaLnBrk="1" hangingPunct="1">
              <a:lnSpc>
                <a:spcPct val="90000"/>
              </a:lnSpc>
              <a:defRPr/>
            </a:pPr>
            <a:r>
              <a:rPr lang="en-US" sz="1800" dirty="0"/>
              <a:t>Testing for completed communications</a:t>
            </a:r>
          </a:p>
          <a:p>
            <a:pPr eaLnBrk="1" hangingPunct="1">
              <a:lnSpc>
                <a:spcPct val="90000"/>
              </a:lnSpc>
              <a:defRPr/>
            </a:pPr>
            <a:r>
              <a:rPr lang="en-US" sz="2000" dirty="0"/>
              <a:t>We have introduced a subset of the more than 100 MPI functions.</a:t>
            </a:r>
          </a:p>
        </p:txBody>
      </p:sp>
      <p:sp>
        <p:nvSpPr>
          <p:cNvPr id="2" name="Date Placeholder 1">
            <a:extLst>
              <a:ext uri="{FF2B5EF4-FFF2-40B4-BE49-F238E27FC236}">
                <a16:creationId xmlns:a16="http://schemas.microsoft.com/office/drawing/2014/main" id="{176214C4-1B87-488F-F393-4F24D7796F4E}"/>
              </a:ext>
            </a:extLst>
          </p:cNvPr>
          <p:cNvSpPr>
            <a:spLocks noGrp="1"/>
          </p:cNvSpPr>
          <p:nvPr>
            <p:ph type="dt" sz="quarter" idx="10"/>
          </p:nvPr>
        </p:nvSpPr>
        <p:spPr/>
        <p:txBody>
          <a:bodyPr/>
          <a:lstStyle/>
          <a:p>
            <a:pPr>
              <a:defRPr/>
            </a:pPr>
            <a:r>
              <a:rPr lang="en-US"/>
              <a:t>CS 362</a:t>
            </a:r>
          </a:p>
        </p:txBody>
      </p:sp>
      <p:sp>
        <p:nvSpPr>
          <p:cNvPr id="3" name="Footer Placeholder 2">
            <a:extLst>
              <a:ext uri="{FF2B5EF4-FFF2-40B4-BE49-F238E27FC236}">
                <a16:creationId xmlns:a16="http://schemas.microsoft.com/office/drawing/2014/main" id="{DA293D58-D41C-9D0C-D1E7-0BA6C7240EFA}"/>
              </a:ext>
            </a:extLst>
          </p:cNvPr>
          <p:cNvSpPr>
            <a:spLocks noGrp="1"/>
          </p:cNvSpPr>
          <p:nvPr>
            <p:ph type="ftr" sz="quarter" idx="11"/>
          </p:nvPr>
        </p:nvSpPr>
        <p:spPr/>
        <p:txBody>
          <a:bodyPr/>
          <a:lstStyle/>
          <a:p>
            <a:pPr>
              <a:defRPr/>
            </a:pPr>
            <a:r>
              <a:rPr lang="en-US"/>
              <a:t>Principles of Programming Languages II</a:t>
            </a:r>
          </a:p>
        </p:txBody>
      </p:sp>
    </p:spTree>
  </p:cSld>
  <p:clrMapOvr>
    <a:masterClrMapping/>
  </p:clrMapOvr>
</p:sld>
</file>

<file path=ppt/theme/theme1.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Textured</Template>
  <TotalTime>2140</TotalTime>
  <Words>1591</Words>
  <Application>Microsoft Office PowerPoint</Application>
  <PresentationFormat>On-screen Show (4:3)</PresentationFormat>
  <Paragraphs>251</Paragraphs>
  <Slides>30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Arial Unicode MS</vt:lpstr>
      <vt:lpstr>Courier New</vt:lpstr>
      <vt:lpstr>Tahoma</vt:lpstr>
      <vt:lpstr>Times New Roman</vt:lpstr>
      <vt:lpstr>Wingdings</vt:lpstr>
      <vt:lpstr>Textured</vt:lpstr>
      <vt:lpstr>PowerPoint Presentation</vt:lpstr>
      <vt:lpstr>Objectives</vt:lpstr>
      <vt:lpstr>Outline</vt:lpstr>
      <vt:lpstr>Document Classification Problem</vt:lpstr>
      <vt:lpstr>Data Dependence Graph (1)</vt:lpstr>
      <vt:lpstr>Partitioning and Communication</vt:lpstr>
      <vt:lpstr>Data Dependence Graph (2)</vt:lpstr>
      <vt:lpstr>Manager/worker-style Algorithm</vt:lpstr>
      <vt:lpstr>Roles of Manager and Workers</vt:lpstr>
      <vt:lpstr>Agglomeration and Mapping</vt:lpstr>
      <vt:lpstr>Task/Channel Graph</vt:lpstr>
      <vt:lpstr>Manager/Worker</vt:lpstr>
      <vt:lpstr>Manager Pseudocode</vt:lpstr>
      <vt:lpstr>Worker Pseudocode</vt:lpstr>
      <vt:lpstr>MPI_Abort</vt:lpstr>
      <vt:lpstr>Creating a Workers-only Communicator</vt:lpstr>
      <vt:lpstr>Workers-only Communicator</vt:lpstr>
      <vt:lpstr>Nonblocking Send / Receive  MPI_Isend, MPI_Irecv, MPI_Wait</vt:lpstr>
      <vt:lpstr>PowerPoint Presentation</vt:lpstr>
      <vt:lpstr>Receiving Path Name from manager MPI_Probe, MPI_Get_count</vt:lpstr>
      <vt:lpstr>Function MPI_Probe allows a process to check for incoming messages without actually receiving them. It provides information about a pending message, such as its source, tag, and size, so the receiving process can allocate the appropriate amount of buffer space before calling MPI_Recv</vt:lpstr>
      <vt:lpstr>Function MPI_Get_count determines the number of elements received in a message. It works in conjunction with MPI_Probe or MPI_Recv to check how many elements of a particular datatype were sent, helping allocate memory dynamically when message sizes are unknown</vt:lpstr>
      <vt:lpstr>PowerPoint Presentation</vt:lpstr>
      <vt:lpstr>PowerPoint Presentation</vt:lpstr>
      <vt:lpstr>Enhancement: Pipelining of document processing </vt:lpstr>
      <vt:lpstr>Pipelining</vt:lpstr>
      <vt:lpstr>Time Savings through Pipelining I = identify RG = Read &amp; Generate profile vector W = Write profile vector</vt:lpstr>
      <vt:lpstr>Pipelined Manager Pseudocode</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CS473</dc:title>
  <dc:creator/>
  <cp:lastModifiedBy>Razvan Andonie</cp:lastModifiedBy>
  <cp:revision>123</cp:revision>
  <cp:lastPrinted>1601-01-01T00:00:00Z</cp:lastPrinted>
  <dcterms:created xsi:type="dcterms:W3CDTF">2001-12-21T00:01:37Z</dcterms:created>
  <dcterms:modified xsi:type="dcterms:W3CDTF">2025-11-23T03:47:25Z</dcterms:modified>
</cp:coreProperties>
</file>